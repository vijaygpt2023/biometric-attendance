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D1B4A"/>
            </a:gs>
            <a:gs pos="100000">
              <a:srgbClr val="3949AB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AAAFF"/>
                </a:solidFill>
                <a:latin typeface="Segoe UI"/>
              </a:defRPr>
            </a:pPr>
            <a:r>
              <a:t>NATIONAL PRODUCTIVITY COUNCIL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Segoe UI"/>
              </a:defRPr>
            </a:pPr>
            <a:r>
              <a:t>Biometric Attendance</a:t>
            </a:r>
            <a:br/>
            <a:r>
              <a:t>Management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FF"/>
                </a:solidFill>
                <a:latin typeface="Segoe UI"/>
              </a:defRPr>
            </a:pPr>
            <a:r>
              <a:t>Ministry of Commerce &amp; Industry, Government of India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4114800"/>
            <a:ext cx="1371600" cy="411480"/>
          </a:xfrm>
          <a:prstGeom prst="roundRect">
            <a:avLst/>
          </a:prstGeom>
          <a:solidFill>
            <a:srgbClr val="394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DG / DDG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4114800"/>
            <a:ext cx="1371600" cy="411480"/>
          </a:xfrm>
          <a:prstGeom prst="round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Group Heads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4114800"/>
            <a:ext cx="1371600" cy="41148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Employees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4114800"/>
            <a:ext cx="1371600" cy="411480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Admin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640080"/>
            <a:ext cx="457200" cy="54864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237E"/>
                </a:solidFill>
                <a:latin typeface="Segoe UI"/>
              </a:defRPr>
            </a:pPr>
            <a:r>
              <a:t>The Problem We Solve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2103120" cy="182880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333333"/>
                </a:solidFill>
                <a:latin typeface="Segoe UI"/>
              </a:defRPr>
            </a:pPr>
            <a:r>
              <a:t>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231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A237E"/>
                </a:solidFill>
                <a:latin typeface="Segoe UI"/>
              </a:defRPr>
            </a:pPr>
            <a:r>
              <a:t>Manual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Segoe UI"/>
              </a:defRPr>
            </a:pPr>
            <a:r>
              <a:t>Excel tracking</a:t>
            </a:r>
            <a:br/>
            <a:r>
              <a:t>is error-prone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828800"/>
            <a:ext cx="2103120" cy="182880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19202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333333"/>
                </a:solidFill>
                <a:latin typeface="Segoe UI"/>
              </a:defRPr>
            </a:pPr>
            <a:r>
              <a:t>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4231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A237E"/>
                </a:solidFill>
                <a:latin typeface="Segoe UI"/>
              </a:defRPr>
            </a:pPr>
            <a:r>
              <a:t>Delayed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83464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Segoe UI"/>
              </a:defRPr>
            </a:pPr>
            <a:r>
              <a:t>Months to finalize</a:t>
            </a:r>
            <a:br/>
            <a:r>
              <a:t>attendance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1828800"/>
            <a:ext cx="2103120" cy="182880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9202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333333"/>
                </a:solidFill>
                <a:latin typeface="Segoe UI"/>
              </a:defRPr>
            </a:pPr>
            <a:r>
              <a:t>🚫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4231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A237E"/>
                </a:solidFill>
                <a:latin typeface="Segoe UI"/>
              </a:defRPr>
            </a:pPr>
            <a:r>
              <a:t>No Audit Trail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283464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Segoe UI"/>
              </a:defRPr>
            </a:pPr>
            <a:r>
              <a:t>No record of</a:t>
            </a:r>
            <a:br/>
            <a:r>
              <a:t>who approved what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95359" y="1828800"/>
            <a:ext cx="2103120" cy="182880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59" y="19202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333333"/>
                </a:solidFill>
                <a:latin typeface="Segoe UI"/>
              </a:defRPr>
            </a:pPr>
            <a:r>
              <a:t>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59" y="24231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A237E"/>
                </a:solidFill>
                <a:latin typeface="Segoe UI"/>
              </a:defRPr>
            </a:pPr>
            <a:r>
              <a:t>Opaque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59" y="283464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Segoe UI"/>
              </a:defRPr>
            </a:pPr>
            <a:r>
              <a:t>Employees can't</a:t>
            </a:r>
            <a:br/>
            <a:r>
              <a:t>see own data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28800" y="4389120"/>
            <a:ext cx="2286000" cy="548640"/>
          </a:xfrm>
          <a:prstGeom prst="roundRect">
            <a:avLst/>
          </a:prstGeom>
          <a:solidFill>
            <a:srgbClr val="FFC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C62828"/>
                </a:solidFill>
                <a:latin typeface="Segoe UI"/>
              </a:defRPr>
            </a:pPr>
            <a:r>
              <a:t>📋  Manual Excel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44348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666666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46320" y="4389120"/>
            <a:ext cx="2286000" cy="54864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A237E"/>
                </a:solidFill>
                <a:latin typeface="Segoe UI"/>
              </a:defRPr>
            </a:pPr>
            <a:r>
              <a:t>⚡  This System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44348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666666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863840" y="4389120"/>
            <a:ext cx="2560320" cy="548640"/>
          </a:xfrm>
          <a:prstGeom prst="round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2E7D32"/>
                </a:solidFill>
                <a:latin typeface="Segoe UI"/>
              </a:defRPr>
            </a:pPr>
            <a:r>
              <a:t>✅  Automated &amp; Transparent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333333"/>
                </a:solidFill>
                <a:latin typeface="Segoe U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D1B4A"/>
            </a:gs>
            <a:gs pos="100000">
              <a:srgbClr val="3949AB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48640"/>
            <a:ext cx="457200" cy="54864"/>
          </a:xfrm>
          <a:prstGeom prst="round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How It Works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1554480" cy="1371600"/>
          </a:xfrm>
          <a:prstGeom prst="roundRect">
            <a:avLst/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📁</a:t>
            </a:r>
            <a:br/>
            <a:r>
              <a:t>Admin Uploads</a:t>
            </a:r>
            <a:br/>
            <a:r>
              <a:t>Biometric XLS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48840" y="201168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67EEA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68880" y="1645920"/>
            <a:ext cx="1554480" cy="1371600"/>
          </a:xfrm>
          <a:prstGeom prst="roundRect">
            <a:avLst/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⚠️</a:t>
            </a:r>
            <a:br/>
            <a:r>
              <a:t>System Detects</a:t>
            </a:r>
            <a:br/>
            <a:r>
              <a:t>Anomalies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69080" y="201168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67EEA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1554480" cy="1371600"/>
          </a:xfrm>
          <a:prstGeom prst="roundRect">
            <a:avLst/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✍️</a:t>
            </a:r>
            <a:br/>
            <a:r>
              <a:t>Employee</a:t>
            </a:r>
            <a:br/>
            <a:r>
              <a:t>Justifies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89320" y="201168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67EEA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645920"/>
            <a:ext cx="1554480" cy="1371600"/>
          </a:xfrm>
          <a:prstGeom prst="roundRect">
            <a:avLst/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🔍</a:t>
            </a:r>
            <a:br/>
            <a:r>
              <a:t>Head</a:t>
            </a:r>
            <a:br/>
            <a:r>
              <a:t>Reviews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9560" y="201168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67EEA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645920"/>
            <a:ext cx="1554480" cy="1371600"/>
          </a:xfrm>
          <a:prstGeom prst="roundRect">
            <a:avLst/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✅</a:t>
            </a:r>
            <a:br/>
            <a:r>
              <a:t>Admin</a:t>
            </a:r>
            <a:br/>
            <a:r>
              <a:t>Finalizes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29800" y="201168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67EEA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149840" y="1645920"/>
            <a:ext cx="1554480" cy="1371600"/>
          </a:xfrm>
          <a:prstGeom prst="roundRect">
            <a:avLst/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📅</a:t>
            </a:r>
            <a:br/>
            <a:r>
              <a:t>Leave</a:t>
            </a:r>
            <a:br/>
            <a:r>
              <a:t>Deducted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71600" y="3840480"/>
            <a:ext cx="201168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3977639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A237E"/>
                </a:solidFill>
                <a:latin typeface="Segoe UI"/>
              </a:defRPr>
            </a:pPr>
            <a:r>
              <a:t>13+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5720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Segoe UI"/>
              </a:defRPr>
            </a:pPr>
            <a:r>
              <a:t>Offices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931920" y="3840480"/>
            <a:ext cx="201168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31920" y="3977639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A237E"/>
                </a:solidFill>
                <a:latin typeface="Segoe UI"/>
              </a:defRPr>
            </a:pPr>
            <a:r>
              <a:t>500+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45720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Segoe UI"/>
              </a:defRPr>
            </a:pPr>
            <a:r>
              <a:t>Employees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92240" y="3840480"/>
            <a:ext cx="201168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3977639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A237E"/>
                </a:solidFill>
                <a:latin typeface="Segoe UI"/>
              </a:defRPr>
            </a:pPr>
            <a:r>
              <a:t>49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5720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Segoe UI"/>
              </a:defRPr>
            </a:pPr>
            <a:r>
              <a:t>API Routes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52559" y="3840480"/>
            <a:ext cx="201168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52559" y="3977639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A237E"/>
                </a:solidFill>
                <a:latin typeface="Segoe UI"/>
              </a:defRPr>
            </a:pPr>
            <a:r>
              <a:t>42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59" y="45720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Segoe UI"/>
              </a:defRPr>
            </a:pPr>
            <a:r>
              <a:t>Tests Passing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48640"/>
            <a:ext cx="457200" cy="54864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237E"/>
                </a:solidFill>
                <a:latin typeface="Segoe UI"/>
              </a:defRPr>
            </a:pPr>
            <a:r>
              <a:t>Login Guide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457200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Segoe UI"/>
              </a:defRPr>
            </a:pPr>
            <a:r>
              <a:t>🌐  npc-biometric-attendance.up.railway.app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237E"/>
                </a:solidFill>
                <a:latin typeface="Segoe UI"/>
              </a:defRPr>
            </a:pPr>
            <a:r>
              <a:t>NPC Biometric Attendance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Segoe UI"/>
              </a:defRPr>
            </a:pPr>
            <a:r>
              <a:t>राष्ट्रीय उत्पादकता परिषद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3291840"/>
            <a:ext cx="2743200" cy="41148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666666"/>
                </a:solidFill>
                <a:latin typeface="Segoe UI"/>
              </a:defRPr>
            </a:pPr>
            <a:r>
              <a:t>Username: firstname.lastname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3840480"/>
            <a:ext cx="2743200" cy="41148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666666"/>
                </a:solidFill>
                <a:latin typeface="Segoe UI"/>
              </a:defRPr>
            </a:pPr>
            <a:r>
              <a:t>Password: ********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0" y="4480560"/>
            <a:ext cx="2743200" cy="457200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Sign 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5074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237E"/>
                </a:solidFill>
                <a:latin typeface="Segoe UI"/>
              </a:defRPr>
            </a:pPr>
            <a:r>
              <a:t>Forgot Password?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645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237E"/>
                </a:solidFill>
                <a:latin typeface="Segoe UI"/>
              </a:defRPr>
            </a:pPr>
            <a:r>
              <a:t>👤  Username Format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1945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Segoe UI"/>
              </a:defRPr>
            </a:pPr>
            <a:r>
              <a:t>Employee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03920" y="2194560"/>
            <a:ext cx="2011680" cy="292608"/>
          </a:xfrm>
          <a:prstGeom prst="roundRect">
            <a:avLst/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237E"/>
                </a:solidFill>
                <a:latin typeface="Segoe UI"/>
              </a:defRPr>
            </a:pPr>
            <a:r>
              <a:t>dk.rahul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560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Segoe UI"/>
              </a:defRPr>
            </a:pPr>
            <a:r>
              <a:t>Head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03920" y="2560320"/>
            <a:ext cx="2011680" cy="292608"/>
          </a:xfrm>
          <a:prstGeom prst="roundRect">
            <a:avLst/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237E"/>
                </a:solidFill>
                <a:latin typeface="Segoe UI"/>
              </a:defRPr>
            </a:pPr>
            <a:r>
              <a:t>gh.hrmgroup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9260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Segoe UI"/>
              </a:defRPr>
            </a:pPr>
            <a:r>
              <a:t>DG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03920" y="2926080"/>
            <a:ext cx="2011680" cy="292608"/>
          </a:xfrm>
          <a:prstGeom prst="roundRect">
            <a:avLst/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237E"/>
                </a:solidFill>
                <a:latin typeface="Segoe UI"/>
              </a:defRPr>
            </a:pPr>
            <a:r>
              <a:t>dg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2918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Segoe UI"/>
              </a:defRPr>
            </a:pPr>
            <a:r>
              <a:t>DDG-I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03920" y="3291840"/>
            <a:ext cx="2011680" cy="292608"/>
          </a:xfrm>
          <a:prstGeom prst="roundRect">
            <a:avLst/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237E"/>
                </a:solidFill>
                <a:latin typeface="Segoe UI"/>
              </a:defRPr>
            </a:pPr>
            <a:r>
              <a:t>ddg1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657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Segoe UI"/>
              </a:defRPr>
            </a:pPr>
            <a:r>
              <a:t>DDG-II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03920" y="3657600"/>
            <a:ext cx="2011680" cy="292608"/>
          </a:xfrm>
          <a:prstGeom prst="roundRect">
            <a:avLst/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237E"/>
                </a:solidFill>
                <a:latin typeface="Segoe UI"/>
              </a:defRPr>
            </a:pPr>
            <a:r>
              <a:t>ddg2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206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237E"/>
                </a:solidFill>
                <a:latin typeface="Segoe UI"/>
              </a:defRPr>
            </a:pPr>
            <a:r>
              <a:t>🔐  First Login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4663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Segoe UI"/>
              </a:defRPr>
            </a:pPr>
            <a:r>
              <a:t>• Default password: npc123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4983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62828"/>
                </a:solidFill>
                <a:latin typeface="Segoe UI"/>
              </a:defRPr>
            </a:pPr>
            <a:r>
              <a:t>• Must change immediately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5303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Segoe UI"/>
              </a:defRPr>
            </a:pPr>
            <a:r>
              <a:t>• Min 8 chars + letter + number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333333"/>
                </a:solidFill>
                <a:latin typeface="Segoe U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D1B4A"/>
            </a:gs>
            <a:gs pos="100000">
              <a:srgbClr val="3949AB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AAAFF"/>
                </a:solidFill>
                <a:latin typeface="Segoe UI"/>
              </a:defRPr>
            </a:pPr>
            <a:r>
              <a:t>SECTION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Segoe UI"/>
              </a:defRPr>
            </a:pPr>
            <a:r>
              <a:t>🏢  DG &amp; DDG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FF"/>
                </a:solidFill>
                <a:latin typeface="Segoe UI"/>
              </a:defRPr>
            </a:pPr>
            <a:r>
              <a:t>Organization-wide attendance oversight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48640"/>
            <a:ext cx="457200" cy="54864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237E"/>
                </a:solidFill>
                <a:latin typeface="Segoe UI"/>
              </a:defRPr>
            </a:pPr>
            <a:r>
              <a:t>DG / DDG: Your 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1371600" cy="41148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E65100"/>
                </a:solidFill>
                <a:latin typeface="Segoe UI"/>
              </a:defRPr>
            </a:pPr>
            <a:r>
              <a:t>AB Group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60320" y="1645920"/>
            <a:ext cx="1371600" cy="41148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E65100"/>
                </a:solidFill>
                <a:latin typeface="Segoe UI"/>
              </a:defRPr>
            </a:pPr>
            <a:r>
              <a:t>Admin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0" y="1645920"/>
            <a:ext cx="137160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E65100"/>
                </a:solidFill>
                <a:latin typeface="Segoe UI"/>
              </a:defRPr>
            </a:pPr>
            <a:r>
              <a:t>ECA Group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52160" y="1645920"/>
            <a:ext cx="1371600" cy="41148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E65100"/>
                </a:solidFill>
                <a:latin typeface="Segoe UI"/>
              </a:defRPr>
            </a:pPr>
            <a:r>
              <a:t>Finance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1645920"/>
            <a:ext cx="1371600" cy="41148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E65100"/>
                </a:solidFill>
                <a:latin typeface="Segoe UI"/>
              </a:defRPr>
            </a:pPr>
            <a:r>
              <a:t>HRM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0" y="1645920"/>
            <a:ext cx="1371600" cy="41148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E65100"/>
                </a:solidFill>
                <a:latin typeface="Segoe UI"/>
              </a:defRPr>
            </a:pPr>
            <a:r>
              <a:t>IE Group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860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Segoe UI"/>
              </a:defRPr>
            </a:pPr>
            <a:r>
              <a:t>Click any department tab → see employee summary → click row → daily detail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926080"/>
            <a:ext cx="4754880" cy="292608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017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237E"/>
                </a:solidFill>
                <a:latin typeface="Segoe UI"/>
              </a:defRPr>
            </a:pPr>
            <a:r>
              <a:t>👁️  What You See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4747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Segoe UI"/>
              </a:defRPr>
            </a:pPr>
            <a:r>
              <a:t>✓  All 12 departments as clickable tabs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8862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Segoe UI"/>
              </a:defRPr>
            </a:pPr>
            <a:r>
              <a:t>✓  Employee summary per department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42976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Segoe UI"/>
              </a:defRPr>
            </a:pPr>
            <a:r>
              <a:t>✓  Anomaly counts &amp; leave deductions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47091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Segoe UI"/>
              </a:defRPr>
            </a:pPr>
            <a:r>
              <a:t>✓  Justification status at a glance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2926080"/>
            <a:ext cx="5029200" cy="292608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3017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7D32"/>
                </a:solidFill>
                <a:latin typeface="Segoe UI"/>
              </a:defRPr>
            </a:pPr>
            <a:r>
              <a:t>👆  What You 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4747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Segoe UI"/>
              </a:defRPr>
            </a:pPr>
            <a:r>
              <a:t>✓  Click department → see employees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8862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Segoe UI"/>
              </a:defRPr>
            </a:pPr>
            <a:r>
              <a:t>✓  Click employee → see daily anomalies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42976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Segoe UI"/>
              </a:defRPr>
            </a:pPr>
            <a:r>
              <a:t>✓  Monitor chronic late-comers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47091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Segoe UI"/>
              </a:defRPr>
            </a:pPr>
            <a:r>
              <a:t>✓  View justification progress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51206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Segoe UI"/>
              </a:defRPr>
            </a:pPr>
            <a:r>
              <a:t>✓  No action required (oversight only)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333333"/>
                </a:solidFill>
                <a:latin typeface="Segoe U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BF360C"/>
            </a:gs>
            <a:gs pos="100000">
              <a:srgbClr val="E65100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CC80"/>
                </a:solidFill>
                <a:latin typeface="Segoe UI"/>
              </a:defRPr>
            </a:pPr>
            <a:r>
              <a:t>SECTION 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Segoe UI"/>
              </a:defRPr>
            </a:pPr>
            <a:r>
              <a:t>👥  Group Heads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E0B2"/>
                </a:solidFill>
                <a:latin typeface="Segoe UI"/>
              </a:defRPr>
            </a:pPr>
            <a:r>
              <a:t>Review &amp; decide on employee justifications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FFFFFF"/>
                </a:solidFill>
                <a:latin typeface="Segoe U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48640"/>
            <a:ext cx="457200" cy="54864"/>
          </a:xfrm>
          <a:prstGeom prst="round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65100"/>
                </a:solidFill>
                <a:latin typeface="Segoe UI"/>
              </a:defRPr>
            </a:pPr>
            <a:r>
              <a:t>Group Head: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828800" cy="1097280"/>
          </a:xfrm>
          <a:prstGeom prst="roundRect">
            <a:avLst/>
          </a:prstGeom>
          <a:solidFill>
            <a:srgbClr val="FFE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65100"/>
                </a:solidFill>
                <a:latin typeface="Segoe UI"/>
              </a:defRPr>
            </a:pPr>
            <a:r>
              <a:t>📊</a:t>
            </a:r>
            <a:br/>
            <a:r>
              <a:t>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06039" y="18288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66666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17520" y="1554480"/>
            <a:ext cx="1828800" cy="1097280"/>
          </a:xfrm>
          <a:prstGeom prst="roundRect">
            <a:avLst/>
          </a:prstGeom>
          <a:solidFill>
            <a:srgbClr val="FFE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65100"/>
                </a:solidFill>
                <a:latin typeface="Segoe UI"/>
              </a:defRPr>
            </a:pPr>
            <a:r>
              <a:t>🔍</a:t>
            </a:r>
            <a:br/>
            <a:r>
              <a:t>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92040" y="18288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66666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0" y="1554480"/>
            <a:ext cx="1828800" cy="1097280"/>
          </a:xfrm>
          <a:prstGeom prst="round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E7D32"/>
                </a:solidFill>
                <a:latin typeface="Segoe UI"/>
              </a:defRPr>
            </a:pPr>
            <a:r>
              <a:t>✅</a:t>
            </a:r>
            <a:br/>
            <a:r>
              <a:t>Accept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0" y="1554480"/>
            <a:ext cx="1828800" cy="1097280"/>
          </a:xfrm>
          <a:prstGeom prst="roundRect">
            <a:avLst/>
          </a:prstGeom>
          <a:solidFill>
            <a:srgbClr val="FFC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C62828"/>
                </a:solidFill>
                <a:latin typeface="Segoe UI"/>
              </a:defRPr>
            </a:pPr>
            <a:r>
              <a:t>❌</a:t>
            </a:r>
            <a:br/>
            <a:r>
              <a:t>Decline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875520" y="1554480"/>
            <a:ext cx="1828800" cy="109728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65100"/>
                </a:solidFill>
                <a:latin typeface="Segoe UI"/>
              </a:defRPr>
            </a:pPr>
            <a:r>
              <a:t>❓</a:t>
            </a:r>
            <a:br/>
            <a:r>
              <a:t>Query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108960"/>
            <a:ext cx="5486400" cy="2560320"/>
          </a:xfrm>
          <a:prstGeom prst="round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2004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5100"/>
                </a:solidFill>
                <a:latin typeface="Segoe UI"/>
              </a:defRPr>
            </a:pPr>
            <a:r>
              <a:t>Status Indicators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3657600"/>
            <a:ext cx="548640" cy="274320"/>
          </a:xfrm>
          <a:prstGeom prst="roundRect">
            <a:avLst/>
          </a:prstGeom>
          <a:solidFill>
            <a:srgbClr val="9E9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12P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6576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Segoe UI"/>
              </a:defRPr>
            </a:pPr>
            <a:r>
              <a:t>Pending - employee hasn't submitted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97280" y="4023360"/>
            <a:ext cx="548640" cy="274320"/>
          </a:xfrm>
          <a:prstGeom prst="round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5S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0233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Segoe UI"/>
              </a:defRPr>
            </a:pPr>
            <a:r>
              <a:t>Submitted - ready for your review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7280" y="4389120"/>
            <a:ext cx="548640" cy="274320"/>
          </a:xfrm>
          <a:prstGeom prst="round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2Q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43891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Segoe UI"/>
              </a:defRPr>
            </a:pPr>
            <a:r>
              <a:t>Queried - sent back to employee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97280" y="4754880"/>
            <a:ext cx="548640" cy="27432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8A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47548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Segoe UI"/>
              </a:defRPr>
            </a:pPr>
            <a:r>
              <a:t>Accepted - anomaly excluded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" y="5120640"/>
            <a:ext cx="548640" cy="274320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3D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51206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Segoe UI"/>
              </a:defRPr>
            </a:pPr>
            <a:r>
              <a:t>Declined - counts for deduction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75120" y="3108960"/>
            <a:ext cx="4572000" cy="256032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0" y="32004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7D32"/>
                </a:solidFill>
                <a:latin typeface="Segoe UI"/>
              </a:defRPr>
            </a:pPr>
            <a:r>
              <a:t>💡  Tips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36576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Segoe UI"/>
              </a:defRPr>
            </a:pPr>
            <a:r>
              <a:t>✓  Use "Accept All" for bulk approvals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40233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Segoe UI"/>
              </a:defRPr>
            </a:pPr>
            <a:r>
              <a:t>✓  Add remarks when declining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43891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Segoe UI"/>
              </a:defRPr>
            </a:pPr>
            <a:r>
              <a:t>✓  Query sends notification to employee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47548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Segoe UI"/>
              </a:defRPr>
            </a:pPr>
            <a:r>
              <a:t>✓  Click employee name for full detail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0" y="51206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Segoe UI"/>
              </a:defRPr>
            </a:pPr>
            <a:r>
              <a:t>✓  Bulk actions save time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333333"/>
                </a:solidFill>
                <a:latin typeface="Segoe U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B5E20"/>
            </a:gs>
            <a:gs pos="100000">
              <a:srgbClr val="2E7D32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5D6A7"/>
                </a:solidFill>
                <a:latin typeface="Segoe UI"/>
              </a:defRPr>
            </a:pPr>
            <a:r>
              <a:t>SECTION 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Segoe UI"/>
              </a:defRPr>
            </a:pPr>
            <a:r>
              <a:t>👤  Employees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8E6C9"/>
                </a:solidFill>
                <a:latin typeface="Segoe UI"/>
              </a:defRPr>
            </a:pPr>
            <a:r>
              <a:t>View your attendance &amp; justify anomalies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FFFFFF"/>
                </a:solidFill>
                <a:latin typeface="Segoe UI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48640"/>
            <a:ext cx="457200" cy="54864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E7D32"/>
                </a:solidFill>
                <a:latin typeface="Segoe UI"/>
              </a:defRPr>
            </a:pPr>
            <a:r>
              <a:t>Employee: 3 Simple Steps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45920" y="1554480"/>
            <a:ext cx="731520" cy="73152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E7D32"/>
                </a:solidFill>
                <a:latin typeface="Segoe UI"/>
              </a:defRPr>
            </a:pPr>
            <a:r>
              <a:t>View Anomalies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2608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Segoe UI"/>
              </a:defRPr>
            </a:pPr>
            <a:r>
              <a:t>See your attendance summary</a:t>
            </a:r>
            <a:br/>
            <a:r>
              <a:t>and day-wise anomaly list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0" y="1554480"/>
            <a:ext cx="731520" cy="73152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4688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E7D32"/>
                </a:solidFill>
                <a:latin typeface="Segoe UI"/>
              </a:defRPr>
            </a:pPr>
            <a:r>
              <a:t>Write Justification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92608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Segoe UI"/>
              </a:defRPr>
            </a:pPr>
            <a:r>
              <a:t>Type your reason for each</a:t>
            </a:r>
            <a:br/>
            <a:r>
              <a:t>anomaly (tour, medical, etc.)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554480"/>
            <a:ext cx="731520" cy="73152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24688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E7D32"/>
                </a:solidFill>
                <a:latin typeface="Segoe UI"/>
              </a:defRPr>
            </a:pPr>
            <a:r>
              <a:t>Submit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92608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Segoe UI"/>
              </a:defRPr>
            </a:pPr>
            <a:r>
              <a:t>Click Submit → sent to Head</a:t>
            </a:r>
            <a:br/>
            <a:r>
              <a:t>Success message with timestamp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71600" y="4114800"/>
            <a:ext cx="2011680" cy="128016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42062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A237E"/>
                </a:solidFill>
                <a:latin typeface="Segoe UI"/>
              </a:defRPr>
            </a:pPr>
            <a:r>
              <a:t>58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7548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Segoe UI"/>
              </a:defRPr>
            </a:pPr>
            <a:r>
              <a:t>Working</a:t>
            </a:r>
            <a:br/>
            <a:r>
              <a:t>Days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31920" y="4114800"/>
            <a:ext cx="2011680" cy="128016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31920" y="42062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E7D32"/>
                </a:solidFill>
                <a:latin typeface="Segoe UI"/>
              </a:defRPr>
            </a:pPr>
            <a:r>
              <a:t>52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47548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Segoe UI"/>
              </a:defRPr>
            </a:pPr>
            <a:r>
              <a:t>Present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92240" y="4114800"/>
            <a:ext cx="2011680" cy="1280160"/>
          </a:xfrm>
          <a:prstGeom prst="round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42062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C62828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7548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Segoe UI"/>
              </a:defRPr>
            </a:pPr>
            <a:r>
              <a:t>Anomalies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52559" y="4114800"/>
            <a:ext cx="2011680" cy="128016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59" y="42062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65100"/>
                </a:solidFill>
                <a:latin typeface="Segoe UI"/>
              </a:defRPr>
            </a:pPr>
            <a:r>
              <a:t>2.0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59" y="47548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Segoe UI"/>
              </a:defRPr>
            </a:pPr>
            <a:r>
              <a:t>Leave</a:t>
            </a:r>
            <a:br/>
            <a:r>
              <a:t>Ded.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5669280"/>
            <a:ext cx="10332720" cy="50292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E65100"/>
                </a:solidFill>
                <a:latin typeface="Segoe UI"/>
              </a:defRPr>
            </a:pPr>
            <a:r>
              <a:t>🔌  Offline? Data auto-saved locally. Submits automatically when connection restores.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333333"/>
                </a:solidFill>
                <a:latin typeface="Segoe U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D1B4A"/>
            </a:gs>
            <a:gs pos="100000">
              <a:srgbClr val="3949AB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48640"/>
            <a:ext cx="457200" cy="54864"/>
          </a:xfrm>
          <a:prstGeom prst="round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Leave Deduction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65100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FF"/>
                </a:solidFill>
                <a:latin typeface="Segoe UI"/>
              </a:defRPr>
            </a:pPr>
            <a:r>
              <a:t>Free anomaly days</a:t>
            </a:r>
            <a:br/>
            <a:r>
              <a:t>per month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E65100"/>
                </a:solidFill>
                <a:latin typeface="Segoe UI"/>
              </a:defRPr>
            </a:pPr>
            <a:r>
              <a:t>0.5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029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FF"/>
                </a:solidFill>
                <a:latin typeface="Segoe UI"/>
              </a:defRPr>
            </a:pPr>
            <a:r>
              <a:t>EL deducted per</a:t>
            </a:r>
            <a:br/>
            <a:r>
              <a:t>extra anomaly day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0" y="1645920"/>
            <a:ext cx="5669280" cy="4114800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0" y="17373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AAAFF"/>
                </a:solidFill>
                <a:latin typeface="Segoe UI"/>
              </a:defRPr>
            </a:pPr>
            <a:r>
              <a:t>Anomaly Days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1737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AAAFF"/>
                </a:solidFill>
                <a:latin typeface="Segoe UI"/>
              </a:defRPr>
            </a:pPr>
            <a:r>
              <a:t>Deduction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1737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AAAFF"/>
                </a:solidFill>
                <a:latin typeface="Segoe UI"/>
              </a:defRPr>
            </a:pPr>
            <a:r>
              <a:t>Visual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22860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1-2 days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22860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0 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2286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🟢🟢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29260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3 days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29260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0.5 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2926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🟢🟢🔴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35661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5 days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35661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1.5 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35661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🟢🟢🔴🔴🔴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0" y="42062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8 days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42062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5100"/>
                </a:solidFill>
                <a:latin typeface="Segoe UI"/>
              </a:defRPr>
            </a:pPr>
            <a:r>
              <a:t>3.0 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4206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🟢🟢🔴🔴🔴🔴🔴🔴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0" y="48463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12 days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4846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5100"/>
                </a:solidFill>
                <a:latin typeface="Segoe UI"/>
              </a:defRPr>
            </a:pPr>
            <a:r>
              <a:t>5.0 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4846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🟢🟢🔴 ×10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60720" y="55778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CC"/>
                </a:solidFill>
                <a:latin typeface="Segoe UI"/>
              </a:defRPr>
            </a:pPr>
            <a:r>
              <a:t>🟢 = Free    🔴 = 0.5 EL each    ✅ Accepted = excluded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FFFFFF"/>
                </a:solidFill>
                <a:latin typeface="Segoe U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7F0000"/>
            </a:gs>
            <a:gs pos="100000">
              <a:srgbClr val="C62828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8A80"/>
                </a:solidFill>
                <a:latin typeface="Segoe UI"/>
              </a:defRPr>
            </a:pPr>
            <a:r>
              <a:t>SECTION 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Segoe UI"/>
              </a:defRPr>
            </a:pPr>
            <a:r>
              <a:t>⚙️  Admin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CDD2"/>
                </a:solidFill>
                <a:latin typeface="Segoe UI"/>
              </a:defRPr>
            </a:pPr>
            <a:r>
              <a:t>Upload, manage, finalize, export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FFFFFF"/>
                </a:solidFill>
                <a:latin typeface="Segoe UI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48640"/>
            <a:ext cx="457200" cy="54864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62828"/>
                </a:solidFill>
                <a:latin typeface="Segoe UI"/>
              </a:defRPr>
            </a:pPr>
            <a:r>
              <a:t>Admin: Monthly Process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1828800" cy="1005840"/>
          </a:xfrm>
          <a:prstGeom prst="roundRect">
            <a:avLst/>
          </a:prstGeom>
          <a:solidFill>
            <a:srgbClr val="FFC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C62828"/>
                </a:solidFill>
                <a:latin typeface="Segoe UI"/>
              </a:defRPr>
            </a:pPr>
            <a:r>
              <a:t>📁</a:t>
            </a:r>
            <a:br/>
            <a:r>
              <a:t>Upload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23160" y="16459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66666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34640" y="1463040"/>
            <a:ext cx="1828800" cy="100584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237E"/>
                </a:solidFill>
                <a:latin typeface="Segoe UI"/>
              </a:defRPr>
            </a:pPr>
            <a:r>
              <a:t>⚡</a:t>
            </a:r>
            <a:br/>
            <a:r>
              <a:t>Analyze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09160" y="16459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66666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0" y="1463040"/>
            <a:ext cx="1828800" cy="100584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65100"/>
                </a:solidFill>
                <a:latin typeface="Segoe UI"/>
              </a:defRPr>
            </a:pPr>
            <a:r>
              <a:t>⏳</a:t>
            </a:r>
            <a:br/>
            <a:r>
              <a:t>Wait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95159" y="16459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66666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1463040"/>
            <a:ext cx="1828800" cy="1005840"/>
          </a:xfrm>
          <a:prstGeom prst="round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E7D32"/>
                </a:solidFill>
                <a:latin typeface="Segoe UI"/>
              </a:defRPr>
            </a:pPr>
            <a:r>
              <a:t>✅</a:t>
            </a:r>
            <a:br/>
            <a:r>
              <a:t>Finalize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81159" y="16459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66666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92640" y="1463040"/>
            <a:ext cx="1828800" cy="1005840"/>
          </a:xfrm>
          <a:prstGeom prst="roundRect">
            <a:avLst/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237E"/>
                </a:solidFill>
                <a:latin typeface="Segoe UI"/>
              </a:defRPr>
            </a:pPr>
            <a:r>
              <a:t>📄</a:t>
            </a:r>
            <a:br/>
            <a:r>
              <a:t>Export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926080"/>
            <a:ext cx="5303520" cy="3200400"/>
          </a:xfrm>
          <a:prstGeom prst="roundRect">
            <a:avLst/>
          </a:prstGeom>
          <a:solidFill>
            <a:srgbClr val="F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017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62828"/>
                </a:solidFill>
                <a:latin typeface="Segoe UI"/>
              </a:defRPr>
            </a:pPr>
            <a:r>
              <a:t>🔧  Admin Tools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4747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Segoe UI"/>
              </a:defRPr>
            </a:pPr>
            <a:r>
              <a:t>✓  User management (add/edit/reset/delete)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8862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Segoe UI"/>
              </a:defRPr>
            </a:pPr>
            <a:r>
              <a:t>✓  Office &amp; department management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2976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Segoe UI"/>
              </a:defRPr>
            </a:pPr>
            <a:r>
              <a:t>✓  Holiday calendar management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7091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Segoe UI"/>
              </a:defRPr>
            </a:pPr>
            <a:r>
              <a:t>✓  Anomaly rules configuration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1206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Segoe UI"/>
              </a:defRPr>
            </a:pPr>
            <a:r>
              <a:t>✓  Password reset for employees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2926080"/>
            <a:ext cx="5029200" cy="3200400"/>
          </a:xfrm>
          <a:prstGeom prst="roundRect">
            <a:avLst/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3017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237E"/>
                </a:solidFill>
                <a:latin typeface="Segoe UI"/>
              </a:defRPr>
            </a:pPr>
            <a:r>
              <a:t>📊  Reports &amp; Data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34747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Segoe UI"/>
              </a:defRPr>
            </a:pPr>
            <a:r>
              <a:t>✓  Excel export (dept-wise sheets)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38862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Segoe UI"/>
              </a:defRPr>
            </a:pPr>
            <a:r>
              <a:t>✓  PDF print-friendly report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42976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Segoe UI"/>
              </a:defRPr>
            </a:pPr>
            <a:r>
              <a:t>✓  Audit log (who did what, when)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47091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Segoe UI"/>
              </a:defRPr>
            </a:pPr>
            <a:r>
              <a:t>✓  eHRMS leave reconciliation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51206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Segoe UI"/>
              </a:defRPr>
            </a:pPr>
            <a:r>
              <a:t>✓  Chart.js visual analytics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333333"/>
                </a:solidFill>
                <a:latin typeface="Segoe UI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D1B4A"/>
            </a:gs>
            <a:gs pos="100000">
              <a:srgbClr val="3949AB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48640"/>
            <a:ext cx="457200" cy="54864"/>
          </a:xfrm>
          <a:prstGeom prst="round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Security &amp; Compliance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82880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333333"/>
                </a:solidFill>
                <a:latin typeface="Segoe UI"/>
              </a:defRPr>
            </a:pPr>
            <a:r>
              <a:t>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237E"/>
                </a:solidFill>
                <a:latin typeface="Segoe UI"/>
              </a:defRPr>
            </a:pPr>
            <a:r>
              <a:t>CSRF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Segoe UI"/>
              </a:defRPr>
            </a:pPr>
            <a:r>
              <a:t>All forms protected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0" y="1645920"/>
            <a:ext cx="182880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0" y="17830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333333"/>
                </a:solidFill>
                <a:latin typeface="Segoe UI"/>
              </a:defRPr>
            </a:pPr>
            <a:r>
              <a:t>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286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237E"/>
                </a:solidFill>
                <a:latin typeface="Segoe UI"/>
              </a:defRPr>
            </a:pPr>
            <a:r>
              <a:t>Password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697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Segoe UI"/>
              </a:defRPr>
            </a:pPr>
            <a:r>
              <a:t>Strength + forced change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20640" y="1645920"/>
            <a:ext cx="182880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0" y="17830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333333"/>
                </a:solidFill>
                <a:latin typeface="Segoe UI"/>
              </a:defRPr>
            </a:pPr>
            <a:r>
              <a:t>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2286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237E"/>
                </a:solidFill>
                <a:latin typeface="Segoe UI"/>
              </a:defRPr>
            </a:pPr>
            <a:r>
              <a:t>Timeout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2697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Segoe UI"/>
              </a:defRPr>
            </a:pPr>
            <a:r>
              <a:t>30 min auto-logout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199" y="1645920"/>
            <a:ext cx="182880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199" y="17830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333333"/>
                </a:solidFill>
                <a:latin typeface="Segoe UI"/>
              </a:defRPr>
            </a:pPr>
            <a:r>
              <a:t>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199" y="2286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237E"/>
                </a:solidFill>
                <a:latin typeface="Segoe UI"/>
              </a:defRPr>
            </a:pPr>
            <a:r>
              <a:t>Audit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199" y="2697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Segoe UI"/>
              </a:defRPr>
            </a:pPr>
            <a:r>
              <a:t>Every action logged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09760" y="1645920"/>
            <a:ext cx="182880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09760" y="17830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333333"/>
                </a:solidFill>
                <a:latin typeface="Segoe UI"/>
              </a:defRPr>
            </a:pPr>
            <a:r>
              <a:t>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0" y="2286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237E"/>
                </a:solidFill>
                <a:latin typeface="Segoe UI"/>
              </a:defRPr>
            </a:pPr>
            <a:r>
              <a:t>GIGW 3.0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2697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Segoe UI"/>
              </a:defRPr>
            </a:pPr>
            <a:r>
              <a:t>Compliant UI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3840480"/>
            <a:ext cx="182880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39776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333333"/>
                </a:solidFill>
                <a:latin typeface="Segoe UI"/>
              </a:defRPr>
            </a:pPr>
            <a:r>
              <a:t>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4805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237E"/>
                </a:solidFill>
                <a:latin typeface="Segoe UI"/>
              </a:defRPr>
            </a:pPr>
            <a:r>
              <a:t>Mobile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8920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Segoe UI"/>
              </a:defRPr>
            </a:pPr>
            <a:r>
              <a:t>Responsive design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926080" y="3840480"/>
            <a:ext cx="182880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926080" y="39776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333333"/>
                </a:solidFill>
                <a:latin typeface="Segoe UI"/>
              </a:defRPr>
            </a:pPr>
            <a:r>
              <a:t>🇮🇳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26080" y="44805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237E"/>
                </a:solidFill>
                <a:latin typeface="Segoe UI"/>
              </a:defRPr>
            </a:pPr>
            <a:r>
              <a:t>Hindi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26080" y="48920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Segoe UI"/>
              </a:defRPr>
            </a:pPr>
            <a:r>
              <a:t>Bilingual ready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120640" y="3840480"/>
            <a:ext cx="182880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120640" y="39776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333333"/>
                </a:solidFill>
                <a:latin typeface="Segoe UI"/>
              </a:defRPr>
            </a:pPr>
            <a:r>
              <a:t>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20640" y="44805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237E"/>
                </a:solidFill>
                <a:latin typeface="Segoe UI"/>
              </a:defRPr>
            </a:pPr>
            <a:r>
              <a:t>Offline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20640" y="48920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Segoe UI"/>
              </a:defRPr>
            </a:pPr>
            <a:r>
              <a:t>Local data save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199" y="3840480"/>
            <a:ext cx="182880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199" y="39776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333333"/>
                </a:solidFill>
                <a:latin typeface="Segoe UI"/>
              </a:defRPr>
            </a:pPr>
            <a:r>
              <a:t>📊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199" y="44805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237E"/>
                </a:solidFill>
                <a:latin typeface="Segoe UI"/>
              </a:defRPr>
            </a:pPr>
            <a:r>
              <a:t>Charts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199" y="48920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Segoe UI"/>
              </a:defRPr>
            </a:pPr>
            <a:r>
              <a:t>Visual analytics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509760" y="3840480"/>
            <a:ext cx="182880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509760" y="39776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333333"/>
                </a:solidFill>
                <a:latin typeface="Segoe UI"/>
              </a:defRPr>
            </a:pPr>
            <a:r>
              <a:t>⏱️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09760" y="44805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237E"/>
                </a:solidFill>
                <a:latin typeface="Segoe UI"/>
              </a:defRPr>
            </a:pPr>
            <a:r>
              <a:t>Rate Limit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09760" y="48920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Segoe UI"/>
              </a:defRPr>
            </a:pPr>
            <a:r>
              <a:t>Brute-force protected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FFFFFF"/>
                </a:solidFill>
                <a:latin typeface="Segoe UI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48640"/>
            <a:ext cx="457200" cy="54864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237E"/>
                </a:solidFill>
                <a:latin typeface="Segoe UI"/>
              </a:defRPr>
            </a:pPr>
            <a:r>
              <a:t>Technology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64008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237E"/>
                </a:solidFill>
                <a:latin typeface="Segoe UI"/>
              </a:defRPr>
            </a:pPr>
            <a:r>
              <a:t>Backend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1645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Segoe UI"/>
              </a:defRPr>
            </a:pPr>
            <a:r>
              <a:t>Python Flask (12 Blueprints)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2103120"/>
            <a:ext cx="5669280" cy="9144"/>
          </a:xfrm>
          <a:prstGeom prst="round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240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237E"/>
                </a:solidFill>
                <a:latin typeface="Segoe UI"/>
              </a:defRPr>
            </a:pPr>
            <a:r>
              <a:t>Database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2240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Segoe UI"/>
              </a:defRPr>
            </a:pPr>
            <a:r>
              <a:t>PostgreSQL (18 tables)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2697480"/>
            <a:ext cx="5669280" cy="9144"/>
          </a:xfrm>
          <a:prstGeom prst="round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834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237E"/>
                </a:solidFill>
                <a:latin typeface="Segoe UI"/>
              </a:defRPr>
            </a:pPr>
            <a:r>
              <a:t>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834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Segoe UI"/>
              </a:defRPr>
            </a:pPr>
            <a:r>
              <a:t>SQLAlchemy + Flask-Migrate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3291840"/>
            <a:ext cx="5669280" cy="9144"/>
          </a:xfrm>
          <a:prstGeom prst="round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429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237E"/>
                </a:solidFill>
                <a:latin typeface="Segoe UI"/>
              </a:defRPr>
            </a:pPr>
            <a:r>
              <a:t>Auth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34290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Segoe UI"/>
              </a:defRPr>
            </a:pPr>
            <a:r>
              <a:t>Flask-Login + CSRF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3886200"/>
            <a:ext cx="5669280" cy="9144"/>
          </a:xfrm>
          <a:prstGeom prst="round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023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237E"/>
                </a:solidFill>
                <a:latin typeface="Segoe UI"/>
              </a:defRPr>
            </a:pPr>
            <a:r>
              <a:t>Frontend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4023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Segoe UI"/>
              </a:defRPr>
            </a:pPr>
            <a:r>
              <a:t>Jinja2 + Chart.js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97280" y="4480560"/>
            <a:ext cx="5669280" cy="9144"/>
          </a:xfrm>
          <a:prstGeom prst="round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4617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237E"/>
                </a:solidFill>
                <a:latin typeface="Segoe UI"/>
              </a:defRPr>
            </a:pPr>
            <a:r>
              <a:t>Hosting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4617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Segoe UI"/>
              </a:defRPr>
            </a:pPr>
            <a:r>
              <a:t>Railway (Cloud PaaS)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97280" y="5074920"/>
            <a:ext cx="5669280" cy="9144"/>
          </a:xfrm>
          <a:prstGeom prst="round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5212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237E"/>
                </a:solidFill>
                <a:latin typeface="Segoe UI"/>
              </a:defRPr>
            </a:pPr>
            <a:r>
              <a:t>Testing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5212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Segoe UI"/>
              </a:defRPr>
            </a:pPr>
            <a:r>
              <a:t>Playwright (42 E2E tests)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0" y="1645920"/>
            <a:ext cx="3474720" cy="1280160"/>
          </a:xfrm>
          <a:prstGeom prst="roundRect">
            <a:avLst/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0" y="173736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A237E"/>
                </a:solidFill>
                <a:latin typeface="Segoe UI"/>
              </a:defRPr>
            </a:pPr>
            <a:r>
              <a:t>49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24231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Segoe UI"/>
              </a:defRPr>
            </a:pPr>
            <a:r>
              <a:t>API Routes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0" y="3291840"/>
            <a:ext cx="3474720" cy="128016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0" y="338328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E7D32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0" y="40690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Segoe UI"/>
              </a:defRPr>
            </a:pPr>
            <a:r>
              <a:t>DB Tables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0" y="4937760"/>
            <a:ext cx="3474720" cy="128016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0" y="502920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65100"/>
                </a:solidFill>
                <a:latin typeface="Segoe UI"/>
              </a:defRPr>
            </a:pPr>
            <a:r>
              <a:t>42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0" y="571500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Segoe UI"/>
              </a:defRPr>
            </a:pPr>
            <a:r>
              <a:t>Tests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333333"/>
                </a:solidFill>
                <a:latin typeface="Segoe UI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D1B4A"/>
            </a:gs>
            <a:gs pos="100000">
              <a:srgbClr val="3949AB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Segoe UI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FF"/>
                </a:solidFill>
                <a:latin typeface="Segoe UI"/>
              </a:defRPr>
            </a:pPr>
            <a:r>
              <a:t>NPC Biometric Attendance Management 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0" y="3657600"/>
            <a:ext cx="5486400" cy="1371600"/>
          </a:xfrm>
          <a:prstGeom prst="roundRect">
            <a:avLst/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0" y="3840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📧  Support: vijay.kumar@npcindia.gov.in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42976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🌐  npc-biometric-attendance.up.railway.app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486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99CC"/>
                </a:solidFill>
                <a:latin typeface="Segoe UI"/>
              </a:defRPr>
            </a:pPr>
            <a:r>
              <a:t>National Productivity Council  •  Ministry of Commerce &amp; Industry  •  Government of India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FFFFFF"/>
                </a:solidFill>
                <a:latin typeface="Segoe UI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