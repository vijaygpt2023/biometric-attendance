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B4A"/>
            </a:gs>
            <a:gs pos="100000">
              <a:srgbClr val="3949AB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FF"/>
                </a:solidFill>
                <a:latin typeface="Segoe UI"/>
              </a:defRPr>
            </a:pPr>
            <a:r>
              <a:t>NATIONAL PRODUCTIVITY COUNCIL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Segoe UI"/>
              </a:defRPr>
            </a:pPr>
            <a:r>
              <a:t>Biometric Attendance</a:t>
            </a:r>
            <a:br/>
            <a:r>
              <a:t>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FF"/>
                </a:solidFill>
                <a:latin typeface="Segoe UI"/>
              </a:defRPr>
            </a:pPr>
            <a:r>
              <a:t>Ministry of Commerce &amp; Industry, Government of India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4114800"/>
            <a:ext cx="1371600" cy="411480"/>
          </a:xfrm>
          <a:prstGeom prst="round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DG / DDG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4114800"/>
            <a:ext cx="1371600" cy="41148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Group Heads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4114800"/>
            <a:ext cx="1371600" cy="4114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Employees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4114800"/>
            <a:ext cx="1371600" cy="41148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0080"/>
            <a:ext cx="457200" cy="54864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237E"/>
                </a:solidFill>
                <a:latin typeface="Segoe UI"/>
              </a:defRPr>
            </a:pPr>
            <a:r>
              <a:t>The Problem We Solve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2103120" cy="182880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Segoe UI"/>
              </a:defRPr>
            </a:pPr>
            <a: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A237E"/>
                </a:solidFill>
                <a:latin typeface="Segoe UI"/>
              </a:defRPr>
            </a:pPr>
            <a:r>
              <a:t>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Segoe UI"/>
              </a:defRPr>
            </a:pPr>
            <a:r>
              <a:t>Excel tracking</a:t>
            </a:r>
            <a:br/>
            <a:r>
              <a:t>is error-prone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828800"/>
            <a:ext cx="2103120" cy="182880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Segoe UI"/>
              </a:defRPr>
            </a:pPr>
            <a:r>
              <a:t>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A237E"/>
                </a:solidFill>
                <a:latin typeface="Segoe UI"/>
              </a:defRPr>
            </a:pPr>
            <a:r>
              <a:t>Delayed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Segoe UI"/>
              </a:defRPr>
            </a:pPr>
            <a:r>
              <a:t>Months to finalize</a:t>
            </a:r>
            <a:br/>
            <a:r>
              <a:t>attendance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828800"/>
            <a:ext cx="2103120" cy="182880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Segoe UI"/>
              </a:defRPr>
            </a:pPr>
            <a:r>
              <a:t>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A237E"/>
                </a:solidFill>
                <a:latin typeface="Segoe UI"/>
              </a:defRPr>
            </a:pPr>
            <a:r>
              <a:t>No Audit Trail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Segoe UI"/>
              </a:defRPr>
            </a:pPr>
            <a:r>
              <a:t>No record of</a:t>
            </a:r>
            <a:br/>
            <a:r>
              <a:t>who approved what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59" y="1828800"/>
            <a:ext cx="2103120" cy="182880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59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Segoe UI"/>
              </a:defRPr>
            </a:pPr>
            <a:r>
              <a:t>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59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A237E"/>
                </a:solidFill>
                <a:latin typeface="Segoe UI"/>
              </a:defRPr>
            </a:pPr>
            <a:r>
              <a:t>Opaque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59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Segoe UI"/>
              </a:defRPr>
            </a:pPr>
            <a:r>
              <a:t>Employees can't</a:t>
            </a:r>
            <a:br/>
            <a:r>
              <a:t>see own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4389120"/>
            <a:ext cx="2286000" cy="54864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C62828"/>
                </a:solidFill>
                <a:latin typeface="Segoe UI"/>
              </a:defRPr>
            </a:pPr>
            <a:r>
              <a:t>📋  Manual Excel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4348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66666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4389120"/>
            <a:ext cx="2286000" cy="54864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237E"/>
                </a:solidFill>
                <a:latin typeface="Segoe UI"/>
              </a:defRPr>
            </a:pPr>
            <a:r>
              <a:t>⚡  This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4348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66666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4389120"/>
            <a:ext cx="2560320" cy="5486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E7D32"/>
                </a:solidFill>
                <a:latin typeface="Segoe UI"/>
              </a:defRPr>
            </a:pPr>
            <a:r>
              <a:t>✅  Automated &amp; Transparent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333333"/>
                </a:solidFill>
                <a:latin typeface="Segoe U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B4A"/>
            </a:gs>
            <a:gs pos="100000">
              <a:srgbClr val="3949AB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457200" cy="54864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How It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554480" cy="1371600"/>
          </a:xfrm>
          <a:prstGeom prst="round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📁</a:t>
            </a:r>
            <a:br/>
            <a:r>
              <a:t>Admin Uploads</a:t>
            </a:r>
            <a:br/>
            <a:r>
              <a:t>Biometric XLS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0116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7EEA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1645920"/>
            <a:ext cx="1554480" cy="1371600"/>
          </a:xfrm>
          <a:prstGeom prst="round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⚠️</a:t>
            </a:r>
            <a:br/>
            <a:r>
              <a:t>System Detects</a:t>
            </a:r>
            <a:br/>
            <a:r>
              <a:t>Anomalies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0" y="20116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7EEA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1554480" cy="1371600"/>
          </a:xfrm>
          <a:prstGeom prst="round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✍️</a:t>
            </a:r>
            <a:br/>
            <a:r>
              <a:t>Employee</a:t>
            </a:r>
            <a:br/>
            <a:r>
              <a:t>Justifies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0116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7EEA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1554480" cy="1371600"/>
          </a:xfrm>
          <a:prstGeom prst="round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🔍</a:t>
            </a:r>
            <a:br/>
            <a:r>
              <a:t>Head</a:t>
            </a:r>
            <a:br/>
            <a:r>
              <a:t>Reviews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0116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7EEA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645920"/>
            <a:ext cx="1554480" cy="1371600"/>
          </a:xfrm>
          <a:prstGeom prst="round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✅</a:t>
            </a:r>
            <a:br/>
            <a:r>
              <a:t>Admin</a:t>
            </a:r>
            <a:br/>
            <a:r>
              <a:t>Finalizes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29800" y="20116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7EEA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49840" y="1645920"/>
            <a:ext cx="1554480" cy="1371600"/>
          </a:xfrm>
          <a:prstGeom prst="round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📅</a:t>
            </a:r>
            <a:br/>
            <a:r>
              <a:t>Leave</a:t>
            </a:r>
            <a:br/>
            <a:r>
              <a:t>Deducted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840480"/>
            <a:ext cx="20116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977639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237E"/>
                </a:solidFill>
                <a:latin typeface="Segoe UI"/>
              </a:defRPr>
            </a:pPr>
            <a:r>
              <a:t>13+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5720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Offices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31920" y="3840480"/>
            <a:ext cx="20116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977639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237E"/>
                </a:solidFill>
                <a:latin typeface="Segoe UI"/>
              </a:defRPr>
            </a:pPr>
            <a:r>
              <a:t>500+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5720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Employees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840480"/>
            <a:ext cx="20116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977639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237E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5720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API Routes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59" y="3840480"/>
            <a:ext cx="20116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59" y="3977639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237E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59" y="45720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Tests Passing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457200" cy="54864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237E"/>
                </a:solidFill>
                <a:latin typeface="Segoe UI"/>
              </a:defRPr>
            </a:pPr>
            <a:r>
              <a:t>Complete Workflow: Step by Step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2560320" cy="219456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62828"/>
                </a:solidFill>
                <a:latin typeface="Segoe UI"/>
              </a:defRPr>
            </a:pPr>
            <a:r>
              <a:t>❶  ADMIN UPLOADS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Segoe UI"/>
              </a:defRPr>
            </a:pPr>
            <a:r>
              <a:t>• Selects Office (HQ / Regional)</a:t>
            </a:r>
            <a:br/>
            <a:r>
              <a:t>• Uploads biometric .xls file</a:t>
            </a:r>
            <a:br/>
            <a:r>
              <a:t>• Sets rules (late time, min hours)</a:t>
            </a:r>
            <a:br/>
            <a:r>
              <a:t>• System auto-detects anomalies</a:t>
            </a:r>
            <a:br/>
            <a:r>
              <a:t>• Creates record for each employee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CCCCC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280160"/>
            <a:ext cx="3291840" cy="219456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3258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7D32"/>
                </a:solidFill>
                <a:latin typeface="Segoe UI"/>
              </a:defRPr>
            </a:pPr>
            <a:r>
              <a:t>❷  EMPLOYEE JUSTIFIES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73736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Segoe UI"/>
              </a:defRPr>
            </a:pPr>
            <a:r>
              <a:t>• Logs in → sees own anomalies</a:t>
            </a:r>
            <a:br/>
            <a:r>
              <a:t>• Each anomaly: Late / Early / Short Hrs</a:t>
            </a:r>
            <a:br/>
            <a:r>
              <a:t>• Writes reason for each anomaly</a:t>
            </a:r>
            <a:br/>
            <a:r>
              <a:t>   (tour, medical, device fault, etc.)</a:t>
            </a:r>
            <a:br/>
            <a:r>
              <a:t>• Clicks "Submit" → goes to Head</a:t>
            </a:r>
            <a:br/>
            <a:r>
              <a:t>• Can save draft &amp; come back later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CCCCC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1280160"/>
            <a:ext cx="3840480" cy="219456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13258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65100"/>
                </a:solidFill>
                <a:latin typeface="Segoe UI"/>
              </a:defRPr>
            </a:pPr>
            <a:r>
              <a:t>❸  HEAD REVIEWS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17373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Segoe UI"/>
              </a:defRPr>
            </a:pPr>
            <a:r>
              <a:t>• Reads each justification</a:t>
            </a:r>
            <a:br/>
            <a:r>
              <a:t>• For EACH anomaly, decides: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2423160"/>
            <a:ext cx="100584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✅ Accept</a:t>
            </a:r>
            <a:br/>
            <a:r>
              <a:t>Exclude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2423160"/>
            <a:ext cx="1005840" cy="5029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❌ Decline</a:t>
            </a:r>
            <a:br/>
            <a:r>
              <a:t>Count 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0" y="2423160"/>
            <a:ext cx="1188720" cy="50292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❓ Query</a:t>
            </a:r>
            <a:br/>
            <a:r>
              <a:t>Ask more info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0175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Segoe UI"/>
              </a:defRPr>
            </a:pPr>
            <a:r>
              <a:t>• Query → goes back to employee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840480"/>
            <a:ext cx="5943600" cy="237744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8862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237E"/>
                </a:solidFill>
                <a:latin typeface="Segoe UI"/>
              </a:defRPr>
            </a:pPr>
            <a:r>
              <a:t>❹  ADMIN FINALIZES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97680"/>
            <a:ext cx="5577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Segoe UI"/>
              </a:defRPr>
            </a:pPr>
            <a:r>
              <a:t>• Reviews Head's decisions for all employees</a:t>
            </a:r>
            <a:br/>
            <a:r>
              <a:t>• Can override Head decision with recorded reason</a:t>
            </a:r>
            <a:br/>
            <a:r>
              <a:t>• For each anomaly:</a:t>
            </a:r>
            <a:br/>
            <a:r>
              <a:t>      "Exclude" → anomaly removed (no deduction)</a:t>
            </a:r>
            <a:br/>
            <a:r>
              <a:t>      "Count" → anomaly stays (leave deducted)</a:t>
            </a:r>
            <a:br/>
            <a:r>
              <a:t>• Clicks "Finalize Decisions" → month is locked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663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CCCCC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0" y="3840480"/>
            <a:ext cx="4297680" cy="23774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38862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62828"/>
                </a:solidFill>
                <a:latin typeface="Segoe UI"/>
              </a:defRPr>
            </a:pPr>
            <a:r>
              <a:t>❺  LEAVE DEDUCTED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29768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Segoe UI"/>
              </a:defRPr>
            </a:pPr>
            <a:r>
              <a:t>• Only "Counted" anomalies remain</a:t>
            </a:r>
            <a:br/>
            <a:r>
              <a:t>• First 2 anomaly days = FREE</a:t>
            </a:r>
            <a:br/>
            <a:r>
              <a:t>• Each extra day = 0.5 EL deducted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5120640"/>
            <a:ext cx="36576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0" y="516636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237E"/>
                </a:solidFill>
                <a:latin typeface="Segoe UI"/>
              </a:defRPr>
            </a:pPr>
            <a:r>
              <a:t>Example: 8 anomalies → 3 accepted</a:t>
            </a:r>
            <a:br/>
            <a:r>
              <a:t>= 5 counted − 2 free = 3 × 0.5 = 1.5 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333333"/>
                </a:solidFill>
                <a:latin typeface="Segoe U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B4A"/>
            </a:gs>
            <a:gs pos="100000">
              <a:srgbClr val="3949AB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Workflow at a Glance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645920" cy="41148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ADMIN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097280"/>
            <a:ext cx="1828800" cy="41148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C62828"/>
                </a:solidFill>
                <a:latin typeface="Segoe UI"/>
              </a:defRPr>
            </a:pPr>
            <a:r>
              <a:t>Upload XLS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143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7EEA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097280"/>
            <a:ext cx="1828800" cy="41148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C62828"/>
                </a:solidFill>
                <a:latin typeface="Segoe UI"/>
              </a:defRPr>
            </a:pPr>
            <a:r>
              <a:t>Auto-Analyze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1645920" cy="4114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EMPLOYEE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143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7EEA"/>
                </a:solidFill>
                <a:latin typeface="Segoe UI"/>
              </a:defRPr>
            </a:pPr>
            <a: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2011680"/>
            <a:ext cx="1828800" cy="41148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E7D32"/>
                </a:solidFill>
                <a:latin typeface="Segoe UI"/>
              </a:defRPr>
            </a:pPr>
            <a:r>
              <a:t>View Anomalies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057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7EEA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011680"/>
            <a:ext cx="1828800" cy="41148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E7D32"/>
                </a:solidFill>
                <a:latin typeface="Segoe UI"/>
              </a:defRPr>
            </a:pPr>
            <a:r>
              <a:t>Write Reasons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057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7EEA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2011680"/>
            <a:ext cx="1645920" cy="41148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E7D32"/>
                </a:solidFill>
                <a:latin typeface="Segoe UI"/>
              </a:defRPr>
            </a:pPr>
            <a:r>
              <a:t>Submit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926080"/>
            <a:ext cx="1645920" cy="41148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HEAD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057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7EEA"/>
                </a:solidFill>
                <a:latin typeface="Segoe UI"/>
              </a:defRPr>
            </a:pPr>
            <a: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2926080"/>
            <a:ext cx="2011680" cy="411480"/>
          </a:xfrm>
          <a:prstGeom prst="round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65100"/>
                </a:solidFill>
                <a:latin typeface="Segoe UI"/>
              </a:defRPr>
            </a:pPr>
            <a:r>
              <a:t>Read Justification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9718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7EEA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2743200"/>
            <a:ext cx="128016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✅ Accept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3200400"/>
            <a:ext cx="1280160" cy="3657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❌ Decline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926080"/>
            <a:ext cx="1371600" cy="41148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❓ 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971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CC80"/>
                </a:solidFill>
                <a:latin typeface="Segoe UI"/>
              </a:defRPr>
            </a:pPr>
            <a:r>
              <a:t>↩ back to employee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840480"/>
            <a:ext cx="1645920" cy="41148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ADMIN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3375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7EEA"/>
                </a:solidFill>
                <a:latin typeface="Segoe UI"/>
              </a:defRPr>
            </a:pPr>
            <a: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0" y="3840480"/>
            <a:ext cx="2011680" cy="41148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C62828"/>
                </a:solidFill>
                <a:latin typeface="Segoe UI"/>
              </a:defRPr>
            </a:pPr>
            <a:r>
              <a:t>Review Decisions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38862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7EEA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46320" y="3840480"/>
            <a:ext cx="1645920" cy="41148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62828"/>
                </a:solidFill>
                <a:latin typeface="Segoe UI"/>
              </a:defRPr>
            </a:pPr>
            <a:r>
              <a:t>Finalize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8862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7EEA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3840480"/>
            <a:ext cx="1828800" cy="41148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A237E"/>
                </a:solidFill>
                <a:latin typeface="Segoe UI"/>
              </a:defRPr>
            </a:pPr>
            <a:r>
              <a:t>Deduct Leave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4754880"/>
            <a:ext cx="10332720" cy="146304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8006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Leave Deduction Summary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7280" y="5257800"/>
            <a:ext cx="777240" cy="640080"/>
          </a:xfrm>
          <a:prstGeom prst="round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FFFF"/>
                </a:solidFill>
                <a:latin typeface="Segoe UI"/>
              </a:defRPr>
            </a:pPr>
            <a:r>
              <a:t>Total</a:t>
            </a:r>
            <a:br/>
            <a:r>
              <a:t>Anomalies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65960" y="5212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CC80"/>
                </a:solidFill>
                <a:latin typeface="Segoe UI"/>
              </a:defRPr>
            </a:pPr>
            <a:r>
              <a:t>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34639" y="5257800"/>
            <a:ext cx="777240" cy="640080"/>
          </a:xfrm>
          <a:prstGeom prst="round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FFFF"/>
                </a:solidFill>
                <a:latin typeface="Segoe UI"/>
              </a:defRPr>
            </a:pPr>
            <a:r>
              <a:t>Accepted</a:t>
            </a:r>
            <a:br/>
            <a:r>
              <a:t>(Excluded)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5212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CC80"/>
                </a:solidFill>
                <a:latin typeface="Segoe UI"/>
              </a:defRPr>
            </a:pPr>
            <a:r>
              <a:t>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5257800"/>
            <a:ext cx="777240" cy="640080"/>
          </a:xfrm>
          <a:prstGeom prst="round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FFFF"/>
                </a:solidFill>
                <a:latin typeface="Segoe UI"/>
              </a:defRPr>
            </a:pPr>
            <a:r>
              <a:t>Free</a:t>
            </a:r>
            <a:br/>
            <a:r>
              <a:t>Allowance (2)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5212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CC80"/>
                </a:solidFill>
                <a:latin typeface="Segoe UI"/>
              </a:defRPr>
            </a:pPr>
            <a:r>
              <a:t>=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59" y="5257800"/>
            <a:ext cx="777240" cy="640080"/>
          </a:xfrm>
          <a:prstGeom prst="round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E65100"/>
                </a:solidFill>
                <a:latin typeface="Segoe UI"/>
              </a:defRPr>
            </a:pPr>
            <a:r>
              <a:t>Deductible</a:t>
            </a:r>
            <a:br/>
            <a:r>
              <a:t>Days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5212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CC80"/>
                </a:solidFill>
                <a:latin typeface="Segoe UI"/>
              </a:defRPr>
            </a:pPr>
            <a:r>
              <a:t>×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46719" y="5257800"/>
            <a:ext cx="777240" cy="640080"/>
          </a:xfrm>
          <a:prstGeom prst="round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FFFF"/>
                </a:solidFill>
                <a:latin typeface="Segoe UI"/>
              </a:defRPr>
            </a:pPr>
            <a:r>
              <a:t>0.5 EL</a:t>
            </a:r>
            <a:br/>
            <a:r>
              <a:t>per day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5399" y="5212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CC80"/>
                </a:solidFill>
                <a:latin typeface="Segoe UI"/>
              </a:defRPr>
            </a:pPr>
            <a:r>
              <a:t>=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84080" y="5257800"/>
            <a:ext cx="777240" cy="640080"/>
          </a:xfrm>
          <a:prstGeom prst="round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E65100"/>
                </a:solidFill>
                <a:latin typeface="Segoe UI"/>
              </a:defRPr>
            </a:pPr>
            <a:r>
              <a:t>Leave</a:t>
            </a:r>
            <a:br/>
            <a:r>
              <a:t>Deducted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457200" cy="54864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237E"/>
                </a:solidFill>
                <a:latin typeface="Segoe UI"/>
              </a:defRPr>
            </a:pPr>
            <a:r>
              <a:t>Login Guide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57200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Segoe UI"/>
              </a:defRPr>
            </a:pPr>
            <a:r>
              <a:t>🌐  npc-biometric-attendance.up.railway.app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237E"/>
                </a:solidFill>
                <a:latin typeface="Segoe UI"/>
              </a:defRPr>
            </a:pPr>
            <a:r>
              <a:t>NPC Biometric Attendance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राष्ट्रीय उत्पादकता परिषद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3291840"/>
            <a:ext cx="2743200" cy="41148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666666"/>
                </a:solidFill>
                <a:latin typeface="Segoe UI"/>
              </a:defRPr>
            </a:pPr>
            <a:r>
              <a:t>Username: firstname.lastname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840480"/>
            <a:ext cx="2743200" cy="41148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666666"/>
                </a:solidFill>
                <a:latin typeface="Segoe UI"/>
              </a:defRPr>
            </a:pPr>
            <a:r>
              <a:t>Password: ********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4480560"/>
            <a:ext cx="2743200" cy="45720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Sign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074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237E"/>
                </a:solidFill>
                <a:latin typeface="Segoe UI"/>
              </a:defRPr>
            </a:pPr>
            <a:r>
              <a:t>Forgot Password?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37E"/>
                </a:solidFill>
                <a:latin typeface="Segoe UI"/>
              </a:defRPr>
            </a:pPr>
            <a:r>
              <a:t>👤  Username Format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Employee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0" y="2194560"/>
            <a:ext cx="2011680" cy="29260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237E"/>
                </a:solidFill>
                <a:latin typeface="Segoe UI"/>
              </a:defRPr>
            </a:pPr>
            <a:r>
              <a:t>dk.rahul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60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Head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2560320"/>
            <a:ext cx="2011680" cy="29260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237E"/>
                </a:solidFill>
                <a:latin typeface="Segoe UI"/>
              </a:defRPr>
            </a:pPr>
            <a:r>
              <a:t>gh.hrmgroup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26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DG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2926080"/>
            <a:ext cx="2011680" cy="29260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237E"/>
                </a:solidFill>
                <a:latin typeface="Segoe UI"/>
              </a:defRPr>
            </a:pPr>
            <a:r>
              <a:t>dg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291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DDG-I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291840"/>
            <a:ext cx="2011680" cy="29260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237E"/>
                </a:solidFill>
                <a:latin typeface="Segoe UI"/>
              </a:defRPr>
            </a:pPr>
            <a:r>
              <a:t>ddg1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657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DDG-II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3657600"/>
            <a:ext cx="2011680" cy="292608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237E"/>
                </a:solidFill>
                <a:latin typeface="Segoe UI"/>
              </a:defRPr>
            </a:pPr>
            <a:r>
              <a:t>ddg2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37E"/>
                </a:solidFill>
                <a:latin typeface="Segoe UI"/>
              </a:defRPr>
            </a:pPr>
            <a:r>
              <a:t>🔐  First Login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663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• Default password: npc123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983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62828"/>
                </a:solidFill>
                <a:latin typeface="Segoe UI"/>
              </a:defRPr>
            </a:pPr>
            <a:r>
              <a:t>• Must change immediately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303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• Min 8 chars + letter + number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333333"/>
                </a:solidFill>
                <a:latin typeface="Segoe U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B4A"/>
            </a:gs>
            <a:gs pos="100000">
              <a:srgbClr val="3949AB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FF"/>
                </a:solidFill>
                <a:latin typeface="Segoe UI"/>
              </a:defRPr>
            </a:pPr>
            <a:r>
              <a:t>SECTION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🏢  DG &amp; DDG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FF"/>
                </a:solidFill>
                <a:latin typeface="Segoe UI"/>
              </a:defRPr>
            </a:pPr>
            <a:r>
              <a:t>Organization-wide attendance oversight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457200" cy="54864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237E"/>
                </a:solidFill>
                <a:latin typeface="Segoe UI"/>
              </a:defRPr>
            </a:pPr>
            <a:r>
              <a:t>DG / DDG: Your 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371600" cy="41148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65100"/>
                </a:solidFill>
                <a:latin typeface="Segoe UI"/>
              </a:defRPr>
            </a:pPr>
            <a:r>
              <a:t>AB Group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645920"/>
            <a:ext cx="1371600" cy="41148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65100"/>
                </a:solidFill>
                <a:latin typeface="Segoe UI"/>
              </a:defRPr>
            </a:pPr>
            <a:r>
              <a:t>Admin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645920"/>
            <a:ext cx="137160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65100"/>
                </a:solidFill>
                <a:latin typeface="Segoe UI"/>
              </a:defRPr>
            </a:pPr>
            <a:r>
              <a:t>ECA Group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645920"/>
            <a:ext cx="1371600" cy="41148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65100"/>
                </a:solidFill>
                <a:latin typeface="Segoe UI"/>
              </a:defRPr>
            </a:pPr>
            <a:r>
              <a:t>Finance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645920"/>
            <a:ext cx="1371600" cy="41148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65100"/>
                </a:solidFill>
                <a:latin typeface="Segoe UI"/>
              </a:defRPr>
            </a:pPr>
            <a:r>
              <a:t>HRM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1371600" cy="41148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65100"/>
                </a:solidFill>
                <a:latin typeface="Segoe UI"/>
              </a:defRPr>
            </a:pPr>
            <a:r>
              <a:t>IE 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Click any department tab → see employee summary → click row → daily detail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926080"/>
            <a:ext cx="4754880" cy="292608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237E"/>
                </a:solidFill>
                <a:latin typeface="Segoe UI"/>
              </a:defRPr>
            </a:pPr>
            <a:r>
              <a:t>👁️  What You 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474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All 12 departments as clickable tabs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886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Employee summary per department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2976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Anomaly counts &amp; leave deductions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709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Justification status at a glance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926080"/>
            <a:ext cx="5029200" cy="292608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Segoe UI"/>
              </a:defRPr>
            </a:pPr>
            <a:r>
              <a:t>👆  What You 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74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Click department → see employees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886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Click employee → see daily anomalies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97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Monitor chronic late-comers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709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View justification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120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No action required (oversight only)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333333"/>
                </a:solidFill>
                <a:latin typeface="Segoe U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BF360C"/>
            </a:gs>
            <a:gs pos="100000">
              <a:srgbClr val="E65100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CC80"/>
                </a:solidFill>
                <a:latin typeface="Segoe UI"/>
              </a:defRPr>
            </a:pPr>
            <a:r>
              <a:t>SECTION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👥  Group Heads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E0B2"/>
                </a:solidFill>
                <a:latin typeface="Segoe UI"/>
              </a:defRPr>
            </a:pPr>
            <a:r>
              <a:t>Review &amp; decide on employee justifications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Segoe U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457200" cy="54864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65100"/>
                </a:solidFill>
                <a:latin typeface="Segoe UI"/>
              </a:defRPr>
            </a:pPr>
            <a:r>
              <a:t>Group Head: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828800" cy="1097280"/>
          </a:xfrm>
          <a:prstGeom prst="round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65100"/>
                </a:solidFill>
                <a:latin typeface="Segoe UI"/>
              </a:defRPr>
            </a:pPr>
            <a:r>
              <a:t>📊</a:t>
            </a:r>
            <a:br/>
            <a:r>
              <a:t>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39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554480"/>
            <a:ext cx="1828800" cy="1097280"/>
          </a:xfrm>
          <a:prstGeom prst="round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65100"/>
                </a:solidFill>
                <a:latin typeface="Segoe UI"/>
              </a:defRPr>
            </a:pPr>
            <a:r>
              <a:t>🔍</a:t>
            </a:r>
            <a:br/>
            <a:r>
              <a:t>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554480"/>
            <a:ext cx="1828800" cy="109728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E7D32"/>
                </a:solidFill>
                <a:latin typeface="Segoe UI"/>
              </a:defRPr>
            </a:pPr>
            <a:r>
              <a:t>✅</a:t>
            </a:r>
            <a:br/>
            <a:r>
              <a:t>Accept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1554480"/>
            <a:ext cx="1828800" cy="109728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C62828"/>
                </a:solidFill>
                <a:latin typeface="Segoe UI"/>
              </a:defRPr>
            </a:pPr>
            <a:r>
              <a:t>❌</a:t>
            </a:r>
            <a:br/>
            <a:r>
              <a:t>Decline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554480"/>
            <a:ext cx="1828800" cy="109728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65100"/>
                </a:solidFill>
                <a:latin typeface="Segoe UI"/>
              </a:defRPr>
            </a:pPr>
            <a:r>
              <a:t>❓</a:t>
            </a:r>
            <a:br/>
            <a:r>
              <a:t>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08960"/>
            <a:ext cx="5486400" cy="2560320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5100"/>
                </a:solidFill>
                <a:latin typeface="Segoe UI"/>
              </a:defRPr>
            </a:pPr>
            <a:r>
              <a:t>Status Indicators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657600"/>
            <a:ext cx="548640" cy="274320"/>
          </a:xfrm>
          <a:prstGeom prst="round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12P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57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Pending - employee hasn't submitted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023360"/>
            <a:ext cx="548640" cy="2743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5S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23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Submitted - ready for your review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389120"/>
            <a:ext cx="548640" cy="27432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2Q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3891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Queried - sent back to employee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4754880"/>
            <a:ext cx="548640" cy="274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8A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Accepted - anomaly excluded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5120640"/>
            <a:ext cx="548640" cy="274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1206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Declined - counts for deduction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3108960"/>
            <a:ext cx="4572000" cy="25603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3200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Segoe UI"/>
              </a:defRPr>
            </a:pPr>
            <a:r>
              <a:t>💡  Tips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657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Use "Accept All" for bulk approvals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023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Add remarks when declining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389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Query sends notification to employee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754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Click employee name for full detail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51206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Bulk actions save time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333333"/>
                </a:solidFill>
                <a:latin typeface="Segoe U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5E20"/>
            </a:gs>
            <a:gs pos="100000">
              <a:srgbClr val="2E7D32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5D6A7"/>
                </a:solidFill>
                <a:latin typeface="Segoe UI"/>
              </a:defRPr>
            </a:pPr>
            <a:r>
              <a:t>SECTION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👤  Employees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8E6C9"/>
                </a:solidFill>
                <a:latin typeface="Segoe UI"/>
              </a:defRPr>
            </a:pPr>
            <a:r>
              <a:t>View your attendance &amp; justify anomalies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Segoe U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457200" cy="54864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7D32"/>
                </a:solidFill>
                <a:latin typeface="Segoe UI"/>
              </a:defRPr>
            </a:pPr>
            <a:r>
              <a:t>Employee: 3 Simple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45920" y="1554480"/>
            <a:ext cx="731520" cy="7315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7D32"/>
                </a:solidFill>
                <a:latin typeface="Segoe UI"/>
              </a:defRPr>
            </a:pPr>
            <a:r>
              <a:t>View Anomalies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Segoe UI"/>
              </a:defRPr>
            </a:pPr>
            <a:r>
              <a:t>See your attendance summary</a:t>
            </a:r>
            <a:br/>
            <a:r>
              <a:t>and day-wise anomaly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554480"/>
            <a:ext cx="731520" cy="7315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7D32"/>
                </a:solidFill>
                <a:latin typeface="Segoe UI"/>
              </a:defRPr>
            </a:pPr>
            <a:r>
              <a:t>Write Justification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9260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Segoe UI"/>
              </a:defRPr>
            </a:pPr>
            <a:r>
              <a:t>Type your reason for each</a:t>
            </a:r>
            <a:br/>
            <a:r>
              <a:t>anomaly (tour, medical, etc.)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554480"/>
            <a:ext cx="731520" cy="7315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7D32"/>
                </a:solidFill>
                <a:latin typeface="Segoe UI"/>
              </a:defRPr>
            </a:pPr>
            <a:r>
              <a:t>Submit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9260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Segoe UI"/>
              </a:defRPr>
            </a:pPr>
            <a:r>
              <a:t>Click Submit → sent to Head</a:t>
            </a:r>
            <a:br/>
            <a:r>
              <a:t>Success message with timestamp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4114800"/>
            <a:ext cx="2011680" cy="128016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206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237E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754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Segoe UI"/>
              </a:defRPr>
            </a:pPr>
            <a:r>
              <a:t>Working</a:t>
            </a:r>
            <a:br/>
            <a:r>
              <a:t>Days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4114800"/>
            <a:ext cx="2011680" cy="128016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0" y="4206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7D32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754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Segoe UI"/>
              </a:defRPr>
            </a:pPr>
            <a:r>
              <a:t>Present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114800"/>
            <a:ext cx="2011680" cy="128016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4206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62828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754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Segoe UI"/>
              </a:defRPr>
            </a:pPr>
            <a:r>
              <a:t>Anomalies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59" y="4114800"/>
            <a:ext cx="2011680" cy="128016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59" y="4206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5100"/>
                </a:solidFill>
                <a:latin typeface="Segoe UI"/>
              </a:defRPr>
            </a:pPr>
            <a:r>
              <a:t>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4754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Segoe UI"/>
              </a:defRPr>
            </a:pPr>
            <a:r>
              <a:t>Leave</a:t>
            </a:r>
            <a:br/>
            <a:r>
              <a:t>Ded.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5669280"/>
            <a:ext cx="10332720" cy="50292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65100"/>
                </a:solidFill>
                <a:latin typeface="Segoe UI"/>
              </a:defRPr>
            </a:pPr>
            <a:r>
              <a:t>🔌  Offline? Data auto-saved locally. Submits automatically when connection restores.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333333"/>
                </a:solidFill>
                <a:latin typeface="Segoe U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B4A"/>
            </a:gs>
            <a:gs pos="100000">
              <a:srgbClr val="3949AB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457200" cy="54864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Leave Deduction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6510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FF"/>
                </a:solidFill>
                <a:latin typeface="Segoe UI"/>
              </a:defRPr>
            </a:pPr>
            <a:r>
              <a:t>Free anomaly days</a:t>
            </a:r>
            <a:br/>
            <a:r>
              <a:t>per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E65100"/>
                </a:solidFill>
                <a:latin typeface="Segoe UI"/>
              </a:defRPr>
            </a:pPr>
            <a:r>
              <a:t>0.5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FF"/>
                </a:solidFill>
                <a:latin typeface="Segoe UI"/>
              </a:defRPr>
            </a:pPr>
            <a:r>
              <a:t>EL deducted per</a:t>
            </a:r>
            <a:br/>
            <a:r>
              <a:t>extra anomaly day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645920"/>
            <a:ext cx="5669280" cy="411480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7373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AAAFF"/>
                </a:solidFill>
                <a:latin typeface="Segoe UI"/>
              </a:defRPr>
            </a:pPr>
            <a:r>
              <a:t>Anomaly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737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AAAFF"/>
                </a:solidFill>
                <a:latin typeface="Segoe UI"/>
              </a:defRPr>
            </a:pPr>
            <a:r>
              <a:t>Deduction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737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AAAFF"/>
                </a:solidFill>
                <a:latin typeface="Segoe UI"/>
              </a:defRPr>
            </a:pPr>
            <a:r>
              <a:t>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1-2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286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0 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286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🟢🟢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9260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3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926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0.5 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🟢🟢🔴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5661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5 days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566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1.5 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566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🟢🟢🔴🔴🔴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206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8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2062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5100"/>
                </a:solidFill>
                <a:latin typeface="Segoe UI"/>
              </a:defRPr>
            </a:pPr>
            <a:r>
              <a:t>3.0 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4206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🟢🟢🔴🔴🔴🔴🔴🔴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846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12 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846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5100"/>
                </a:solidFill>
                <a:latin typeface="Segoe UI"/>
              </a:defRPr>
            </a:pPr>
            <a:r>
              <a:t>5.0 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846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🟢🟢🔴 ×10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CC"/>
                </a:solidFill>
                <a:latin typeface="Segoe UI"/>
              </a:defRPr>
            </a:pPr>
            <a:r>
              <a:t>🟢 = Free    🔴 = 0.5 EL each    ✅ Accepted = excluded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Segoe U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7F0000"/>
            </a:gs>
            <a:gs pos="100000">
              <a:srgbClr val="C62828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8A80"/>
                </a:solidFill>
                <a:latin typeface="Segoe UI"/>
              </a:defRPr>
            </a:pPr>
            <a:r>
              <a:t>SECTION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⚙️ 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CDD2"/>
                </a:solidFill>
                <a:latin typeface="Segoe UI"/>
              </a:defRPr>
            </a:pPr>
            <a:r>
              <a:t>Upload, manage, finalize, export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Segoe U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457200" cy="54864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62828"/>
                </a:solidFill>
                <a:latin typeface="Segoe UI"/>
              </a:defRPr>
            </a:pPr>
            <a:r>
              <a:t>Admin: Monthly Process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828800" cy="100584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C62828"/>
                </a:solidFill>
                <a:latin typeface="Segoe UI"/>
              </a:defRPr>
            </a:pPr>
            <a:r>
              <a:t>📁</a:t>
            </a:r>
            <a:br/>
            <a:r>
              <a:t>Upload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16459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463040"/>
            <a:ext cx="1828800" cy="100584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237E"/>
                </a:solidFill>
                <a:latin typeface="Segoe UI"/>
              </a:defRPr>
            </a:pPr>
            <a:r>
              <a:t>⚡</a:t>
            </a:r>
            <a:br/>
            <a:r>
              <a:t>Analyze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16459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463040"/>
            <a:ext cx="1828800" cy="100584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65100"/>
                </a:solidFill>
                <a:latin typeface="Segoe UI"/>
              </a:defRPr>
            </a:pPr>
            <a:r>
              <a:t>⏳</a:t>
            </a:r>
            <a:br/>
            <a:r>
              <a:t>Wait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59" y="16459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463040"/>
            <a:ext cx="182880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E7D32"/>
                </a:solidFill>
                <a:latin typeface="Segoe UI"/>
              </a:defRPr>
            </a:pPr>
            <a:r>
              <a:t>✅</a:t>
            </a:r>
            <a:br/>
            <a:r>
              <a:t>Finalize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59" y="16459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463040"/>
            <a:ext cx="1828800" cy="100584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237E"/>
                </a:solidFill>
                <a:latin typeface="Segoe UI"/>
              </a:defRPr>
            </a:pPr>
            <a:r>
              <a:t>📄</a:t>
            </a:r>
            <a:br/>
            <a:r>
              <a:t>Export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926080"/>
            <a:ext cx="5303520" cy="32004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62828"/>
                </a:solidFill>
                <a:latin typeface="Segoe UI"/>
              </a:defRPr>
            </a:pPr>
            <a:r>
              <a:t>🔧  Admin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74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User management (add/edit/reset/delete)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86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Office &amp; department management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297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Holiday calendar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09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Anomaly rules configuration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120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Password reset for employees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926080"/>
            <a:ext cx="5029200" cy="320040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237E"/>
                </a:solidFill>
                <a:latin typeface="Segoe UI"/>
              </a:defRPr>
            </a:pPr>
            <a:r>
              <a:t>📊  Reports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474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Excel export (dept-wise sheets)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886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PDF print-friendly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4297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Audit log (who did what, when)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709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eHRMS leave reconciliation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120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✓  Chart.js visual 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333333"/>
                </a:solidFill>
                <a:latin typeface="Segoe U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B4A"/>
            </a:gs>
            <a:gs pos="100000">
              <a:srgbClr val="3949AB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457200" cy="54864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Security &amp; Compliance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333333"/>
                </a:solidFill>
                <a:latin typeface="Segoe UI"/>
              </a:defRPr>
            </a:pPr>
            <a:r>
              <a:t>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237E"/>
                </a:solidFill>
                <a:latin typeface="Segoe UI"/>
              </a:defRPr>
            </a:pPr>
            <a:r>
              <a:t>CSRF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Segoe UI"/>
              </a:defRPr>
            </a:pPr>
            <a:r>
              <a:t>All forms protected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64592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1783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333333"/>
                </a:solidFill>
                <a:latin typeface="Segoe UI"/>
              </a:defRPr>
            </a:pPr>
            <a:r>
              <a:t>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286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237E"/>
                </a:solidFill>
                <a:latin typeface="Segoe UI"/>
              </a:defRPr>
            </a:pPr>
            <a:r>
              <a:t>Password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69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Segoe UI"/>
              </a:defRPr>
            </a:pPr>
            <a:r>
              <a:t>Strength + forced change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64592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1783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333333"/>
                </a:solidFill>
                <a:latin typeface="Segoe UI"/>
              </a:defRPr>
            </a:pPr>
            <a:r>
              <a:t>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286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237E"/>
                </a:solidFill>
                <a:latin typeface="Segoe UI"/>
              </a:defRPr>
            </a:pPr>
            <a:r>
              <a:t>Timeout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69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Segoe UI"/>
              </a:defRPr>
            </a:pPr>
            <a:r>
              <a:t>30 min auto-logout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164592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199" y="1783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333333"/>
                </a:solidFill>
                <a:latin typeface="Segoe UI"/>
              </a:defRPr>
            </a:pPr>
            <a:r>
              <a:t>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2286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237E"/>
                </a:solidFill>
                <a:latin typeface="Segoe UI"/>
              </a:defRPr>
            </a:pPr>
            <a:r>
              <a:t>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269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Segoe UI"/>
              </a:defRPr>
            </a:pPr>
            <a:r>
              <a:t>Every action logged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64592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783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333333"/>
                </a:solidFill>
                <a:latin typeface="Segoe UI"/>
              </a:defRPr>
            </a:pPr>
            <a:r>
              <a:t>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2286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237E"/>
                </a:solidFill>
                <a:latin typeface="Segoe UI"/>
              </a:defRPr>
            </a:pPr>
            <a:r>
              <a:t>GIGW 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269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Segoe UI"/>
              </a:defRPr>
            </a:pPr>
            <a:r>
              <a:t>Compliant 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84048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977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333333"/>
                </a:solidFill>
                <a:latin typeface="Segoe UI"/>
              </a:defRPr>
            </a:pPr>
            <a:r>
              <a:t>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480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237E"/>
                </a:solidFill>
                <a:latin typeface="Segoe UI"/>
              </a:defRPr>
            </a:pPr>
            <a:r>
              <a:t>Mobile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Segoe UI"/>
              </a:defRPr>
            </a:pPr>
            <a:r>
              <a:t>Responsive design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6080" y="384048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26080" y="3977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333333"/>
                </a:solidFill>
                <a:latin typeface="Segoe UI"/>
              </a:defRPr>
            </a:pPr>
            <a:r>
              <a:t>🇮🇳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4480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237E"/>
                </a:solidFill>
                <a:latin typeface="Segoe UI"/>
              </a:defRPr>
            </a:pPr>
            <a:r>
              <a:t>Hindi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Segoe UI"/>
              </a:defRPr>
            </a:pPr>
            <a:r>
              <a:t>Bilingual ready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0" y="384048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0" y="3977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333333"/>
                </a:solidFill>
                <a:latin typeface="Segoe UI"/>
              </a:defRPr>
            </a:pPr>
            <a:r>
              <a:t>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480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237E"/>
                </a:solidFill>
                <a:latin typeface="Segoe UI"/>
              </a:defRPr>
            </a:pPr>
            <a:r>
              <a:t>Offline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0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Segoe UI"/>
              </a:defRPr>
            </a:pPr>
            <a:r>
              <a:t>Local data save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199" y="384048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199" y="3977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333333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199" y="4480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237E"/>
                </a:solidFill>
                <a:latin typeface="Segoe UI"/>
              </a:defRPr>
            </a:pPr>
            <a:r>
              <a:t>Charts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199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Segoe UI"/>
              </a:defRPr>
            </a:pPr>
            <a:r>
              <a:t>Visual analytics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09760" y="384048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09760" y="3977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333333"/>
                </a:solidFill>
                <a:latin typeface="Segoe UI"/>
              </a:defRPr>
            </a:pPr>
            <a:r>
              <a:t>⏱️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4480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237E"/>
                </a:solidFill>
                <a:latin typeface="Segoe UI"/>
              </a:defRPr>
            </a:pPr>
            <a:r>
              <a:t>Rate Limit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9760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Segoe UI"/>
              </a:defRPr>
            </a:pPr>
            <a:r>
              <a:t>Brute-force protected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Segoe U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457200" cy="54864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237E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4008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Segoe UI"/>
              </a:defRPr>
            </a:pPr>
            <a: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Python Flask (12 Blueprints)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103120"/>
            <a:ext cx="5669280" cy="9144"/>
          </a:xfrm>
          <a:prstGeom prst="round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Segoe UI"/>
              </a:defRPr>
            </a:pPr>
            <a:r>
              <a:t>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240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PostgreSQL (18 tables)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697480"/>
            <a:ext cx="5669280" cy="9144"/>
          </a:xfrm>
          <a:prstGeom prst="round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Segoe UI"/>
              </a:defRPr>
            </a:pPr>
            <a:r>
              <a:t>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SQLAlchemy + Flask-Migrate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291840"/>
            <a:ext cx="5669280" cy="9144"/>
          </a:xfrm>
          <a:prstGeom prst="round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Segoe UI"/>
              </a:defRPr>
            </a:pPr>
            <a:r>
              <a:t>Auth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Flask-Login + CSRF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3886200"/>
            <a:ext cx="5669280" cy="9144"/>
          </a:xfrm>
          <a:prstGeom prst="round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023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023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Jinja2 + Chart.js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4480560"/>
            <a:ext cx="5669280" cy="9144"/>
          </a:xfrm>
          <a:prstGeom prst="round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617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Segoe UI"/>
              </a:defRPr>
            </a:pPr>
            <a:r>
              <a:t>Hosting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617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Railway (Cloud PaaS)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5074920"/>
            <a:ext cx="5669280" cy="9144"/>
          </a:xfrm>
          <a:prstGeom prst="round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Segoe UI"/>
              </a:defRPr>
            </a:pPr>
            <a:r>
              <a:t>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5212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Playwright (42 E2E tests)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1645920"/>
            <a:ext cx="3474720" cy="128016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173736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423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API Routes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0" y="3291840"/>
            <a:ext cx="3474720" cy="128016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33832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40690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DB Tables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937760"/>
            <a:ext cx="3474720" cy="128016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50292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65100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57150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Tests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333333"/>
                </a:solidFill>
                <a:latin typeface="Segoe U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B4A"/>
            </a:gs>
            <a:gs pos="100000">
              <a:srgbClr val="3949AB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FF"/>
                </a:solidFill>
                <a:latin typeface="Segoe UI"/>
              </a:defRPr>
            </a:pPr>
            <a:r>
              <a:t>NPC Biometric Attendance Management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3657600"/>
            <a:ext cx="5486400" cy="1371600"/>
          </a:xfrm>
          <a:prstGeom prst="round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📧  Support: vijay.kumar@npcindia.gov.in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297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🌐  npc-biometric-attendance.up.railway.app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CC"/>
                </a:solidFill>
                <a:latin typeface="Segoe UI"/>
              </a:defRPr>
            </a:pPr>
            <a:r>
              <a:t>National Productivity Council  •  Ministry of Commerce &amp; Industry  •  Government of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Segoe U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