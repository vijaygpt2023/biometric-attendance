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NATIONAL PRODUCTIVITY COUNCIL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Biometric Attendance</a:t>
            </a:r>
          </a:p>
          <a:p>
            <a:pPr algn="ctr">
              <a:spcAft>
                <a:spcPts val="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BBBBFF"/>
                </a:solidFill>
                <a:latin typeface="Segoe UI"/>
              </a:defRPr>
            </a:pPr>
            <a:r>
              <a:t>Ministry of Commerce &amp; Industry, Government of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846320"/>
            <a:ext cx="1463040" cy="4572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DG / DDG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846320"/>
            <a:ext cx="1463040" cy="45720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Group Heads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846320"/>
            <a:ext cx="14630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4846320"/>
            <a:ext cx="14630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1A237E"/>
                </a:solidFill>
                <a:latin typeface="Segoe UI"/>
              </a:defRPr>
            </a:pPr>
            <a:r>
              <a:t>The Problem We Solve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46888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0">
                <a:solidFill>
                  <a:srgbClr val="333333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Manual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46888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0">
                <a:solidFill>
                  <a:srgbClr val="333333"/>
                </a:solidFill>
                <a:latin typeface="Segoe U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Delayed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Finalization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46888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0">
                <a:solidFill>
                  <a:srgbClr val="333333"/>
                </a:solidFill>
                <a:latin typeface="Segoe UI"/>
              </a:defRPr>
            </a:pPr>
            <a: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No Audit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468880" cy="34747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011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0">
                <a:solidFill>
                  <a:srgbClr val="333333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175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Zero</a:t>
            </a:r>
          </a:p>
          <a:p>
            <a:pPr algn="ctr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645920" cy="16459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📁</a:t>
            </a:r>
          </a:p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463040"/>
            <a:ext cx="1645920" cy="16459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⚠️</a:t>
            </a:r>
          </a:p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1645920" cy="16459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✍️</a:t>
            </a:r>
          </a:p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Justify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1645920" cy="16459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1645920" cy="16459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Finalize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463040"/>
            <a:ext cx="1645920" cy="16459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📅</a:t>
            </a:r>
          </a:p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AA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20624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1A237E"/>
                </a:solidFill>
                <a:latin typeface="Segoe UI"/>
              </a:defRPr>
            </a:pPr>
            <a:r>
              <a:t>13+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88888"/>
                </a:solidFill>
                <a:latin typeface="Segoe UI"/>
              </a:defRPr>
            </a:pPr>
            <a:r>
              <a:t>Offices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20624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1A237E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88888"/>
                </a:solidFill>
                <a:latin typeface="Segoe UI"/>
              </a:defRPr>
            </a:pPr>
            <a:r>
              <a:t>Employees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20624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1A237E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88888"/>
                </a:solidFill>
                <a:latin typeface="Segoe UI"/>
              </a:defRPr>
            </a:pPr>
            <a:r>
              <a:t>Routes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206240"/>
            <a:ext cx="21945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1A237E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88888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1A237E"/>
                </a:solidFill>
                <a:latin typeface="Segoe UI"/>
              </a:defRPr>
            </a:pPr>
            <a:r>
              <a:t>Workflow: Steps 1 →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383280" cy="475488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C62828"/>
                </a:solidFill>
                <a:latin typeface="Segoe UI"/>
              </a:defRPr>
            </a:pPr>
            <a:r>
              <a:t>❶  Admin Uploads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Select Office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Upload biometric XLS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Set rules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(late time, min hours)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System auto-detects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CCCCC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188720"/>
            <a:ext cx="3383280" cy="4754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2E7D32"/>
                </a:solidFill>
                <a:latin typeface="Segoe UI"/>
              </a:defRPr>
            </a:pPr>
            <a:r>
              <a:t>❷  Employee Justifies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Sees own anomalies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Types reason for each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  (tour, medical, etc.)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Clicks Submit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Auto-saved if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CCCCC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188720"/>
            <a:ext cx="3200400" cy="47548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E65100"/>
                </a:solidFill>
                <a:latin typeface="Segoe UI"/>
              </a:defRPr>
            </a:pPr>
            <a:r>
              <a:t>❸  Head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20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Reads justification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Segoe UI"/>
              </a:defRPr>
            </a:pPr>
            <a:r>
              <a:t>• Decides per anomaly: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474720"/>
            <a:ext cx="265176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✅  Accept → Exclude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206240"/>
            <a:ext cx="2651760" cy="5486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❌  Decline →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937760"/>
            <a:ext cx="2651760" cy="5486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❓  Query → Ask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1A237E"/>
                </a:solidFill>
                <a:latin typeface="Segoe UI"/>
              </a:defRPr>
            </a:pPr>
            <a:r>
              <a:t>Workflow: Steps 4 →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029200" cy="45720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1A237E"/>
                </a:solidFill>
                <a:latin typeface="Segoe UI"/>
              </a:defRPr>
            </a:pPr>
            <a:r>
              <a:t>❹  Admin Finalizes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Reviews Head decisions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Can override with reason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"Exclude" → No deduction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  "Count" → Deduct leave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Clicks Finalize → Month 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CCCCC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4572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C62828"/>
                </a:solidFill>
                <a:latin typeface="Segoe UI"/>
              </a:defRPr>
            </a:pPr>
            <a:r>
              <a:t>❺  Leave Deducted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Only "Counted" anomalies remain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First 2 days = FREE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• Each extra = 0.5 EL deducted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114800"/>
            <a:ext cx="4572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206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A237E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663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C62828"/>
                </a:solidFill>
                <a:latin typeface="Segoe UI"/>
              </a:defRPr>
            </a:pPr>
            <a:r>
              <a:t>8 anomalies − 3 accepted = 5 counted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C62828"/>
                </a:solidFill>
                <a:latin typeface="Segoe UI"/>
              </a:defRPr>
            </a:pPr>
            <a:r>
              <a:t>5 − 2 free = 3 × 0.5 = 1.5 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Workflow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9728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Upload XLS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123443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Auto-Analyze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EMPLOYEE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9456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View Anomalies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19456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Write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331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19456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Submit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39"/>
            <a:ext cx="2011680" cy="73152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291839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Read Justification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42899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291839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Accept / Decline /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2011680" cy="7315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38912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Review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526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438912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Finalize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526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667EE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389120"/>
            <a:ext cx="2560320" cy="73152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Deduct Leave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11247120" cy="82296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E65100"/>
                </a:solidFill>
                <a:latin typeface="Segoe UI"/>
              </a:defRPr>
            </a:pPr>
            <a:r>
              <a:t>Total − Accepted − Free(2) = Deductible × 0.5 = Leave Deducted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1A237E"/>
                </a:solidFill>
                <a:latin typeface="Segoe UI"/>
              </a:defRPr>
            </a:pPr>
            <a:r>
              <a:t>How to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33333"/>
                </a:solidFill>
                <a:latin typeface="Segoe UI"/>
              </a:defRPr>
            </a:pPr>
            <a:r>
              <a:t>Employee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371600"/>
            <a:ext cx="2926080" cy="5486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  <a:latin typeface="Segoe UI"/>
              </a:defRPr>
            </a:pPr>
            <a:r>
              <a:t>dk.rahul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33333"/>
                </a:solidFill>
                <a:latin typeface="Segoe UI"/>
              </a:defRPr>
            </a:pPr>
            <a:r>
              <a:t>Group 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194560"/>
            <a:ext cx="2926080" cy="5486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  <a:latin typeface="Segoe UI"/>
              </a:defRPr>
            </a:pPr>
            <a:r>
              <a:t>gh.hrmgroup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33333"/>
                </a:solidFill>
                <a:latin typeface="Segoe UI"/>
              </a:defRPr>
            </a:pPr>
            <a:r>
              <a:t>DG / DDG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017520"/>
            <a:ext cx="2926080" cy="5486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  <a:latin typeface="Segoe UI"/>
              </a:defRPr>
            </a:pPr>
            <a:r>
              <a:t>dg / ddg1 / ddg2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33333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840480"/>
            <a:ext cx="2926080" cy="54864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37E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C62828"/>
                </a:solidFill>
                <a:latin typeface="Segoe UI"/>
              </a:defRPr>
            </a:pPr>
            <a:r>
              <a:t>🔐  Default password: npc123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⚠️  Must change on first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71600"/>
            <a:ext cx="43891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A237E"/>
                </a:solidFill>
                <a:latin typeface="Segoe UI"/>
              </a:defRPr>
            </a:pPr>
            <a:r>
              <a:t>Forgot Password?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860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Email your Username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&amp; Employee Code to: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474720"/>
            <a:ext cx="347472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237E"/>
                </a:solidFill>
                <a:latin typeface="Segoe UI"/>
              </a:defRPr>
            </a:pPr>
            <a:r>
              <a:t>vijay.kumar@npcindia.gov.in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99AAFF"/>
                </a:solidFill>
                <a:latin typeface="Segoe UI"/>
              </a:defRPr>
            </a:pPr>
            <a:r>
              <a:t>SECTION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🏢  DG &amp; DDG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BBBBFF"/>
                </a:solidFill>
                <a:latin typeface="Segoe UI"/>
              </a:defRPr>
            </a:pPr>
            <a:r>
              <a:t>Organization-wide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1A237E"/>
                </a:solidFill>
                <a:latin typeface="Segoe UI"/>
              </a:defRPr>
            </a:pPr>
            <a:r>
              <a:t>DG / DDG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8463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👁️  What You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All 12 department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Employee summary per dept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Anomaly counts &amp; deductions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Justification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2E7D32"/>
                </a:solidFill>
                <a:latin typeface="Segoe UI"/>
              </a:defRPr>
            </a:pPr>
            <a:r>
              <a:t>👆  What You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Click dept → see 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Click employee → daily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Monitor chronic late-comers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✓  Oversight only (no action)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BF360C"/>
            </a:gs>
            <a:gs pos="100000">
              <a:srgbClr val="E651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FFCC80"/>
                </a:solidFill>
                <a:latin typeface="Segoe UI"/>
              </a:defRPr>
            </a:pPr>
            <a:r>
              <a:t>SECTION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👥  Group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FFE0B2"/>
                </a:solidFill>
                <a:latin typeface="Segoe UI"/>
              </a:defRPr>
            </a:pPr>
            <a:r>
              <a:t>Review &amp; decide on justifications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E65100"/>
                </a:solidFill>
                <a:latin typeface="Segoe UI"/>
              </a:defRPr>
            </a:pPr>
            <a:r>
              <a:t>Head: Your 3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4389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0">
                <a:solidFill>
                  <a:srgbClr val="333333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E7D32"/>
                </a:solidFill>
                <a:latin typeface="Segoe UI"/>
              </a:defRPr>
            </a:pPr>
            <a:r>
              <a:t>Accept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Exclude anomaly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No leave deduction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3891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0">
                <a:solidFill>
                  <a:srgbClr val="333333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C62828"/>
                </a:solidFill>
                <a:latin typeface="Segoe UI"/>
              </a:defRPr>
            </a:pPr>
            <a:r>
              <a:t>Decline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2004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Count anomaly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Leave deducted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4389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71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0">
                <a:solidFill>
                  <a:srgbClr val="333333"/>
                </a:solidFill>
                <a:latin typeface="Segoe UI"/>
              </a:defRPr>
            </a:pPr>
            <a: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E65100"/>
                </a:solidFill>
                <a:latin typeface="Segoe UI"/>
              </a:defRPr>
            </a:pPr>
            <a:r>
              <a:t>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004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Need more info</a:t>
            </a:r>
          </a:p>
          <a:p>
            <a:pPr algn="ctr">
              <a:spcAft>
                <a:spcPts val="400"/>
              </a:spcAft>
              <a:defRPr sz="2000" b="0">
                <a:solidFill>
                  <a:srgbClr val="333333"/>
                </a:solidFill>
                <a:latin typeface="Segoe UI"/>
              </a:defRPr>
            </a:pPr>
            <a:r>
              <a:t>Back to employee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888888"/>
                </a:solidFill>
                <a:latin typeface="Segoe UI"/>
              </a:defRPr>
            </a:pPr>
            <a:r>
              <a:t>💡  Bulk: "Accept All" / "Decline All" buttons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5E20"/>
            </a:gs>
            <a:gs pos="100000">
              <a:srgbClr val="2E7D3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A5D6A7"/>
                </a:solidFill>
                <a:latin typeface="Segoe UI"/>
              </a:defRPr>
            </a:pPr>
            <a:r>
              <a:t>SECTION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👤  Employees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C8E6C9"/>
                </a:solidFill>
                <a:latin typeface="Segoe UI"/>
              </a:defRPr>
            </a:pPr>
            <a:r>
              <a:t>View attendance &amp; justify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2E7D32"/>
                </a:solidFill>
                <a:latin typeface="Segoe UI"/>
              </a:defRPr>
            </a:pPr>
            <a:r>
              <a:t>Employee: 3 Simple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2E7D32"/>
                </a:solidFill>
                <a:latin typeface="Segoe UI"/>
              </a:defRPr>
            </a:pPr>
            <a:r>
              <a:t>View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See: Late, Early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Short Hours, Missing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2E7D32"/>
                </a:solidFill>
                <a:latin typeface="Segoe UI"/>
              </a:defRPr>
            </a:pPr>
            <a:r>
              <a:t>Write 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017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Type reason: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tour, medical,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4747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2E7D32"/>
                </a:solidFill>
                <a:latin typeface="Segoe UI"/>
              </a:defRPr>
            </a:pPr>
            <a:r>
              <a:t>Click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Sent to Head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Success message shown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4572000" cy="914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E65100"/>
                </a:solidFill>
                <a:latin typeface="Segoe UI"/>
              </a:defRPr>
            </a:pPr>
            <a:r>
              <a:t>🔌  Offline? Auto-saved locally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846320"/>
            <a:ext cx="5303520" cy="9144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1A237E"/>
                </a:solidFill>
                <a:latin typeface="Segoe UI"/>
              </a:defRPr>
            </a:pPr>
            <a:r>
              <a:t>❓  Head queried? Update &amp; re-submit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Leave Deduction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0" b="1">
                <a:solidFill>
                  <a:srgbClr val="E6510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CCCCFF"/>
                </a:solidFill>
                <a:latin typeface="Segoe UI"/>
              </a:defRPr>
            </a:pPr>
            <a:r>
              <a:t>Free anomaly days /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0" b="1">
                <a:solidFill>
                  <a:srgbClr val="E65100"/>
                </a:solidFill>
                <a:latin typeface="Segoe UI"/>
              </a:defRPr>
            </a:pPr>
            <a:r>
              <a:t>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CCCCFF"/>
                </a:solidFill>
                <a:latin typeface="Segoe UI"/>
              </a:defRPr>
            </a:pPr>
            <a:r>
              <a:t>EL deducted per extra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486400" cy="493776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1-2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 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🟢🟢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3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0.5 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🟢🟢🔴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65100"/>
                </a:solidFill>
                <a:latin typeface="Segoe UI"/>
              </a:defRPr>
            </a:pPr>
            <a:r>
              <a:t>1.5 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🟢🟢🔴🔴🔴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8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65100"/>
                </a:solidFill>
                <a:latin typeface="Segoe UI"/>
              </a:defRPr>
            </a:pPr>
            <a:r>
              <a:t>3.0 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🟢🟢+🔴×6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12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65100"/>
                </a:solidFill>
                <a:latin typeface="Segoe UI"/>
              </a:defRPr>
            </a:pPr>
            <a:r>
              <a:t>5.0 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🟢🟢+🔴×10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7F0000"/>
            </a:gs>
            <a:gs pos="100000">
              <a:srgbClr val="C628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FF8A80"/>
                </a:solidFill>
                <a:latin typeface="Segoe UI"/>
              </a:defRPr>
            </a:pPr>
            <a:r>
              <a:t>SECTION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800" b="1">
                <a:solidFill>
                  <a:srgbClr val="FFFFFF"/>
                </a:solidFill>
                <a:latin typeface="Segoe UI"/>
              </a:defRPr>
            </a:pPr>
            <a:r>
              <a:t>⚙️ 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FFCDD2"/>
                </a:solidFill>
                <a:latin typeface="Segoe UI"/>
              </a:defRPr>
            </a:pPr>
            <a:r>
              <a:t>Upload, manage, finalize,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C62828"/>
                </a:solidFill>
                <a:latin typeface="Segoe UI"/>
              </a:defRPr>
            </a:pPr>
            <a:r>
              <a:t>Admin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84632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C62828"/>
                </a:solidFill>
                <a:latin typeface="Segoe UI"/>
              </a:defRPr>
            </a:pPr>
            <a:r>
              <a:t>🔧 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Upload biometric XLS per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Add / edit / delete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Reset employee passwords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Manage offices &amp; departments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Configure anomaly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03520" cy="484632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237E"/>
                </a:solidFill>
                <a:latin typeface="Segoe UI"/>
              </a:defRPr>
            </a:pPr>
            <a:r>
              <a:t>📊  Reports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Excel export (dept sheets)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PDF print-friendly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Audit log (who, what, when)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eHRMS leave 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33333"/>
                </a:solidFill>
                <a:latin typeface="Segoe UI"/>
              </a:defRPr>
            </a:pPr>
            <a:r>
              <a:t>✓  Holiday 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333333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Security &amp;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CSRF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280160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4630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280160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4630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Timeout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280160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4630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280160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4630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GIGW 3.0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749039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🇮🇳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Hindi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749039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Offline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749039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3749039"/>
            <a:ext cx="2011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333333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37E"/>
                </a:solidFill>
                <a:latin typeface="Segoe UI"/>
              </a:defRPr>
            </a:pPr>
            <a:r>
              <a:t>Rate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4A"/>
            </a:gs>
            <a:gs pos="100000">
              <a:srgbClr val="28359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BBBBFF"/>
                </a:solidFill>
                <a:latin typeface="Segoe UI"/>
              </a:defRPr>
            </a:pPr>
            <a:r>
              <a:t>NPC Biometric Attendance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931920"/>
            <a:ext cx="5760720" cy="146304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📧  vijay.kumar@npcindia.gov.in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663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🌐  npc-biometric-attendance.up.railway.app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888CC"/>
                </a:solidFill>
                <a:latin typeface="Segoe UI"/>
              </a:defRPr>
            </a:pPr>
            <a:r>
              <a:t>National Productivity Council  •  Ministry of Commerce &amp; Industry  •  Govt. of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